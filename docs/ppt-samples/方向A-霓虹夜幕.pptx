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4572000"/>
          </a:xfrm>
          <a:prstGeom prst="rect">
            <a:avLst/>
          </a:prstGeom>
          <a:solidFill>
            <a:srgbClr val="1A0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1A052A">
                <a:alpha val="60000"/>
              </a:srgbClr>
            </a:glow>
          </a:effectLst>
        </a:spPr>
      </p:sp>
      <p:sp>
        <p:nvSpPr>
          <p:cNvPr id="3" name="Rectangle 2"/>
          <p:cNvSpPr/>
          <p:nvPr/>
        </p:nvSpPr>
        <p:spPr>
          <a:xfrm>
            <a:off x="7772400" y="3200400"/>
            <a:ext cx="4389120" cy="3657600"/>
          </a:xfrm>
          <a:prstGeom prst="rect">
            <a:avLst/>
          </a:prstGeom>
          <a:solidFill>
            <a:srgbClr val="00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3D55">
                <a:alpha val="60000"/>
              </a:srgbClr>
            </a:glow>
          </a:effectLst>
        </a:spPr>
      </p:sp>
      <p:cxnSp>
        <p:nvCxnSpPr>
          <p:cNvPr id="4" name="Connector 3"/>
          <p:cNvCxnSpPr/>
          <p:nvPr/>
        </p:nvCxnSpPr>
        <p:spPr>
          <a:xfrm>
            <a:off x="0" y="10287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8293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19169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47923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3771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525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4320" y="27432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" y="27432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917375" y="27432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643055" y="27432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4320" y="630936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" y="658368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917375" y="630936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643055" y="658368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" y="1645920"/>
            <a:ext cx="1069848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1520" y="5212080"/>
            <a:ext cx="10698480" cy="0"/>
          </a:xfrm>
          <a:prstGeom prst="line">
            <a:avLst/>
          </a:prstGeom>
          <a:ln w="1905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97280" y="1645920"/>
            <a:ext cx="0" cy="356616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5943600" y="3337560"/>
            <a:ext cx="182880" cy="182880"/>
          </a:xfrm>
          <a:prstGeom prst="diamond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120000">
              <a:srgbClr val="00E5FF">
                <a:alpha val="80000"/>
              </a:srgbClr>
            </a:glow>
          </a:effectLst>
        </a:spPr>
      </p:sp>
      <p:sp>
        <p:nvSpPr>
          <p:cNvPr id="26" name="TextBox 25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8400" b="1">
                <a:solidFill>
                  <a:srgbClr val="00E5FF"/>
                </a:solidFill>
                <a:latin typeface="Arial"/>
              </a:defRPr>
            </a:pPr>
            <a:r>
              <a:t>Eira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2600" b="1">
                <a:solidFill>
                  <a:srgbClr val="FF0080"/>
                </a:solidFill>
                <a:latin typeface="Arial"/>
              </a:defRPr>
            </a:pPr>
            <a:r>
              <a:t>AI  数字人景区导览系统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703320"/>
            <a:ext cx="9144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1400" b="0">
                <a:solidFill>
                  <a:srgbClr val="AABBCC"/>
                </a:solidFill>
                <a:latin typeface="Courier New"/>
              </a:defRPr>
            </a:pPr>
            <a:r>
              <a:t>Live2D  x  多模态交互  x  RAG知识引擎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AABBCC"/>
                </a:solidFill>
                <a:latin typeface="Courier New"/>
              </a:defRPr>
            </a:pPr>
            <a:r>
              <a:t>"中国软件杯" 大学生软件设计大赛   2026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40480" y="5989320"/>
            <a:ext cx="4480560" cy="0"/>
          </a:xfrm>
          <a:prstGeom prst="line">
            <a:avLst/>
          </a:prstGeom>
          <a:ln w="63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40480" y="6035040"/>
            <a:ext cx="4480560" cy="0"/>
          </a:xfrm>
          <a:prstGeom prst="line">
            <a:avLst/>
          </a:prstGeom>
          <a:ln w="6350">
            <a:solidFill>
              <a:srgbClr val="0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40480" y="6080760"/>
            <a:ext cx="4480560" cy="0"/>
          </a:xfrm>
          <a:prstGeom prst="line">
            <a:avLst/>
          </a:prstGeom>
          <a:ln w="63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0480" y="6126480"/>
            <a:ext cx="4480560" cy="0"/>
          </a:xfrm>
          <a:prstGeom prst="line">
            <a:avLst/>
          </a:prstGeom>
          <a:ln w="6350">
            <a:solidFill>
              <a:srgbClr val="0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40480" y="6172200"/>
            <a:ext cx="4480560" cy="0"/>
          </a:xfrm>
          <a:prstGeom prst="line">
            <a:avLst/>
          </a:prstGeom>
          <a:ln w="63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40480" y="6217920"/>
            <a:ext cx="4480560" cy="0"/>
          </a:xfrm>
          <a:prstGeom prst="line">
            <a:avLst/>
          </a:prstGeom>
          <a:ln w="6350">
            <a:solidFill>
              <a:srgbClr val="00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114800" y="6263640"/>
            <a:ext cx="393192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E5FF">
                <a:alpha val="60000"/>
              </a:srgbClr>
            </a:glow>
          </a:effectLst>
        </a:spPr>
      </p:sp>
    </p:spTree>
  </p:cSld>
  <p:timing>
    <p:tnLst>
      <p:par>
        <p:cTn fill="hold"/>
        <p:childTnLst>
          <p:par>
            <p:cTn nodeType="clickEffect"/>
            <p:childTnLst>
              <p:animEffect transition="in" filter="fade">
                <p:cBhvr>
                  <p:spTgt spid="26"/>
                </p:cBhvr>
                <p:fade/>
              </p:animEffect>
            </p:childTnLst>
          </p:par>
        </p:childTnLst>
      </p:par>
      <p:par>
        <p:cTn fill="hold">
          <p:stCondLst>
            <p:cond delay="300"/>
          </p:stCondLst>
        </p:cTn>
        <p:childTnLst>
          <p:par>
            <p:cTn nodeType="clickEffect"/>
            <p:childTnLst>
              <p:animEffect transition="in" filter="fly" direction="fromBottom">
                <p:cBhvr>
                  <p:spTgt spid="27"/>
                </p:cBhvr>
              </p:animEffect>
            </p:childTnLst>
          </p:par>
        </p:childTnLst>
      </p:par>
      <p:par>
        <p:cTn fill="hold"/>
        <p:childTnLst>
          <p:par>
            <p:cTn nodeType="clickEffect"/>
            <p:childTnLst>
              <p:animEffect transition="in" filter="wipe" direction="fromRight">
                <p:cBhvr>
                  <p:spTgt spid="22"/>
                </p:cBhvr>
              </p:animEffect>
            </p:childTnLst>
          </p:par>
        </p:childTnLst>
      </p:par>
      <p:par>
        <p:cTn fill="hold"/>
        <p:childTnLst>
          <p:par>
            <p:cTn nodeType="clickEffect"/>
            <p:childTnLst>
              <p:animEffect transition="in" filter="wipe" direction="fromLeft">
                <p:cBhvr>
                  <p:spTgt spid="23"/>
                </p:cBhvr>
              </p:animEffect>
            </p:childTnLst>
          </p:par>
        </p:childTnLst>
      </p:par>
      <p:par>
        <p:cTn fill="hold">
          <p:stCondLst>
            <p:cond delay="500"/>
          </p:stCondLst>
        </p:cTn>
        <p:childTnLst>
          <p:par>
            <p:cTn nodeType="clickEffect"/>
            <p:childTnLst>
              <p:animEffect transition="in" filter="fade">
                <p:cBhvr>
                  <p:spTgt spid="28"/>
                </p:cBhvr>
                <p:fade/>
              </p:animEffect>
            </p:childTnLst>
          </p:par>
        </p:childTnLst>
      </p:par>
      <p:par>
        <p:cTn fill="hold">
          <p:stCondLst>
            <p:cond delay="800"/>
          </p:stCondLst>
        </p:cTn>
        <p:childTnLst>
          <p:par>
            <p:cTn nodeType="clickEffect"/>
            <p:childTnLst>
              <p:animEffect transition="in" filter="fade">
                <p:cBhvr>
                  <p:spTgt spid="29"/>
                </p:cBhvr>
                <p:fade/>
              </p:animEffect>
            </p:childTnLst>
          </p:par>
        </p:childTnLst>
      </p:par>
      <p:par>
        <p:cTn fill="hold">
          <p:stCondLst>
            <p:cond delay="200"/>
          </p:stCondLst>
        </p:cTn>
        <p:childTnLst>
          <p:par>
            <p:cTn nodeType="clickEffect"/>
            <p:childTnLst>
              <p:animEffect transition="in" filter="fade">
                <p:cBhvr>
                  <p:spTgt spid="25"/>
                </p:cBhvr>
                <p:fade/>
              </p:animEffect>
            </p:childTnLst>
          </p:par>
        </p:childTnLst>
      </p:par>
      <p:par>
        <p:cTn fill="hold">
          <p:stCondLst>
            <p:cond delay="60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36"/>
                </p:cBhvr>
              </p:animEffect>
            </p:childTnLst>
          </p:par>
        </p:childTnLst>
      </p:par>
    </p:tnLst>
  </p:timing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A0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4114800"/>
            <a:ext cx="2560320" cy="2743200"/>
          </a:xfrm>
          <a:prstGeom prst="rect">
            <a:avLst/>
          </a:prstGeom>
          <a:solidFill>
            <a:srgbClr val="00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287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8293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19169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47923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3771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525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4320" y="27432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" y="27432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917375" y="27432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643055" y="27432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4320" y="630936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" y="658368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917375" y="630936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643055" y="658368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2286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// CORE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3800" b="1">
                <a:solidFill>
                  <a:srgbClr val="FFFFFF"/>
                </a:solidFill>
                <a:latin typeface="Arial"/>
              </a:defRPr>
            </a:pPr>
            <a:r>
              <a:t>核 心 亮 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234440"/>
            <a:ext cx="20116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E5FF">
                <a:alpha val="60000"/>
              </a:srgbClr>
            </a:glow>
          </a:effectLst>
        </a:spPr>
      </p:sp>
      <p:cxnSp>
        <p:nvCxnSpPr>
          <p:cNvPr id="25" name="Connector 24"/>
          <p:cNvCxnSpPr/>
          <p:nvPr/>
        </p:nvCxnSpPr>
        <p:spPr>
          <a:xfrm>
            <a:off x="731520" y="1417320"/>
            <a:ext cx="10698480" cy="0"/>
          </a:xfrm>
          <a:prstGeom prst="line">
            <a:avLst/>
          </a:prstGeom>
          <a:ln w="63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85800" y="1691640"/>
            <a:ext cx="2011680" cy="4572000"/>
          </a:xfrm>
          <a:prstGeom prst="rect">
            <a:avLst/>
          </a:prstGeom>
          <a:solidFill>
            <a:srgbClr val="080C1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E5FF">
                <a:alpha val="60000"/>
              </a:srgbClr>
            </a:glow>
          </a:effectLst>
        </a:spPr>
      </p:sp>
      <p:cxnSp>
        <p:nvCxnSpPr>
          <p:cNvPr id="27" name="Connector 26"/>
          <p:cNvCxnSpPr/>
          <p:nvPr/>
        </p:nvCxnSpPr>
        <p:spPr>
          <a:xfrm>
            <a:off x="685800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" y="1691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85800" y="1691640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97480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624328" y="1691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697480" y="1691640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97480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5800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" y="6263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85800" y="6190488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800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97480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624328" y="6263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97480" y="6190488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97480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2960" y="182880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0E5FF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23774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多模态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交互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3246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Multimodal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" y="3703320"/>
            <a:ext cx="1600200" cy="0"/>
          </a:xfrm>
          <a:prstGeom prst="line">
            <a:avLst/>
          </a:prstGeom>
          <a:ln w="63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397764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AABBCC"/>
                </a:solidFill>
                <a:latin typeface="Courier New"/>
              </a:defRPr>
            </a:pPr>
            <a:r>
              <a:t>文字 · 语音 · 视觉</a:t>
            </a:r>
            <a:br/>
            <a:r>
              <a:t>无缝切换自然对话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53512" y="1691640"/>
            <a:ext cx="2011680" cy="4572000"/>
          </a:xfrm>
          <a:prstGeom prst="rect">
            <a:avLst/>
          </a:prstGeom>
          <a:solidFill>
            <a:srgbClr val="080C18"/>
          </a:solidFill>
          <a:ln w="1016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FF0080">
                <a:alpha val="60000"/>
              </a:srgbClr>
            </a:glow>
          </a:effectLst>
        </a:spPr>
      </p:sp>
      <p:cxnSp>
        <p:nvCxnSpPr>
          <p:cNvPr id="50" name="Connector 49"/>
          <p:cNvCxnSpPr/>
          <p:nvPr/>
        </p:nvCxnSpPr>
        <p:spPr>
          <a:xfrm>
            <a:off x="2953512" y="1691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953512" y="1691640"/>
            <a:ext cx="73152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953512" y="1691640"/>
            <a:ext cx="0" cy="73152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953512" y="1691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965192" y="1691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4892040" y="1691640"/>
            <a:ext cx="73152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965192" y="1691640"/>
            <a:ext cx="0" cy="73152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965192" y="1691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53512" y="6263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953512" y="6263640"/>
            <a:ext cx="73152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953512" y="6190488"/>
            <a:ext cx="0" cy="73152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53512" y="6263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965192" y="6263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4892040" y="6263640"/>
            <a:ext cx="73152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965192" y="6190488"/>
            <a:ext cx="0" cy="73152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965192" y="6263640"/>
            <a:ext cx="0" cy="0"/>
          </a:xfrm>
          <a:prstGeom prst="line">
            <a:avLst/>
          </a:prstGeom>
          <a:ln w="1270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090672" y="182880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0080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90672" y="23774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Live2D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90672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数字人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90672" y="3246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Avatar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090672" y="3703320"/>
            <a:ext cx="1600200" cy="0"/>
          </a:xfrm>
          <a:prstGeom prst="line">
            <a:avLst/>
          </a:prstGeom>
          <a:ln w="635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090672" y="397764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AABBCC"/>
                </a:solidFill>
                <a:latin typeface="Courier New"/>
              </a:defRPr>
            </a:pPr>
            <a:r>
              <a:t>二次元角色实时渲染</a:t>
            </a:r>
            <a:br/>
            <a:r>
              <a:t>表情 / 动作 / 口型同步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1224" y="1691640"/>
            <a:ext cx="2011680" cy="4572000"/>
          </a:xfrm>
          <a:prstGeom prst="rect">
            <a:avLst/>
          </a:prstGeom>
          <a:solidFill>
            <a:srgbClr val="080C18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FF88">
                <a:alpha val="60000"/>
              </a:srgbClr>
            </a:glow>
          </a:effectLst>
        </a:spPr>
      </p:sp>
      <p:cxnSp>
        <p:nvCxnSpPr>
          <p:cNvPr id="73" name="Connector 72"/>
          <p:cNvCxnSpPr/>
          <p:nvPr/>
        </p:nvCxnSpPr>
        <p:spPr>
          <a:xfrm>
            <a:off x="5221224" y="1691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221224" y="1691640"/>
            <a:ext cx="73152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221224" y="1691640"/>
            <a:ext cx="0" cy="73152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221224" y="1691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32904" y="1691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7159752" y="1691640"/>
            <a:ext cx="73152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32904" y="1691640"/>
            <a:ext cx="0" cy="73152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232904" y="1691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221224" y="6263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221224" y="6263640"/>
            <a:ext cx="73152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221224" y="6190488"/>
            <a:ext cx="0" cy="73152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221224" y="6263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232904" y="6263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7159752" y="6263640"/>
            <a:ext cx="73152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232904" y="6190488"/>
            <a:ext cx="0" cy="73152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232904" y="6263640"/>
            <a:ext cx="0" cy="0"/>
          </a:xfrm>
          <a:prstGeom prst="line">
            <a:avLst/>
          </a:prstGeom>
          <a:ln w="127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358384" y="182880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0FF88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58384" y="23774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58384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知识库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58384" y="3246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Knowledge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358384" y="3703320"/>
            <a:ext cx="1600200" cy="0"/>
          </a:xfrm>
          <a:prstGeom prst="line">
            <a:avLst/>
          </a:prstGeom>
          <a:ln w="635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358384" y="397764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AABBCC"/>
                </a:solidFill>
                <a:latin typeface="Courier New"/>
              </a:defRPr>
            </a:pPr>
            <a:r>
              <a:t>景区知识增强检索</a:t>
            </a:r>
            <a:br/>
            <a:r>
              <a:t>精准回答率 95%+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88936" y="1691640"/>
            <a:ext cx="2011680" cy="4572000"/>
          </a:xfrm>
          <a:prstGeom prst="rect">
            <a:avLst/>
          </a:prstGeom>
          <a:solidFill>
            <a:srgbClr val="080C18"/>
          </a:solidFill>
          <a:ln w="1016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FFAA00">
                <a:alpha val="60000"/>
              </a:srgbClr>
            </a:glow>
          </a:effectLst>
        </a:spPr>
      </p:sp>
      <p:cxnSp>
        <p:nvCxnSpPr>
          <p:cNvPr id="96" name="Connector 95"/>
          <p:cNvCxnSpPr/>
          <p:nvPr/>
        </p:nvCxnSpPr>
        <p:spPr>
          <a:xfrm>
            <a:off x="7488936" y="1691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488936" y="1691640"/>
            <a:ext cx="73152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488936" y="1691640"/>
            <a:ext cx="0" cy="73152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488936" y="1691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0616" y="1691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9427464" y="1691640"/>
            <a:ext cx="73152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00616" y="1691640"/>
            <a:ext cx="0" cy="73152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00616" y="1691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488936" y="6263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488936" y="6263640"/>
            <a:ext cx="73152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488936" y="6190488"/>
            <a:ext cx="0" cy="73152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488936" y="6263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500616" y="6263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9427464" y="6263640"/>
            <a:ext cx="73152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500616" y="6190488"/>
            <a:ext cx="0" cy="73152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500616" y="6263640"/>
            <a:ext cx="0" cy="0"/>
          </a:xfrm>
          <a:prstGeom prst="line">
            <a:avLst/>
          </a:prstGeom>
          <a:ln w="127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626096" y="182880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AA00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26096" y="23774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语音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26096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流式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6096" y="3246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Streaming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626096" y="3703320"/>
            <a:ext cx="1600200" cy="0"/>
          </a:xfrm>
          <a:prstGeom prst="line">
            <a:avLst/>
          </a:prstGeom>
          <a:ln w="635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7626096" y="397764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AABBCC"/>
                </a:solidFill>
                <a:latin typeface="Courier New"/>
              </a:defRPr>
            </a:pPr>
            <a:r>
              <a:t>ASR → LLM → TTS</a:t>
            </a:r>
            <a:br/>
            <a:r>
              <a:t>全链路流式低延迟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756648" y="1691640"/>
            <a:ext cx="2011680" cy="4572000"/>
          </a:xfrm>
          <a:prstGeom prst="rect">
            <a:avLst/>
          </a:prstGeom>
          <a:solidFill>
            <a:srgbClr val="080C1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E5FF">
                <a:alpha val="60000"/>
              </a:srgbClr>
            </a:glow>
          </a:effectLst>
        </a:spPr>
      </p:sp>
      <p:cxnSp>
        <p:nvCxnSpPr>
          <p:cNvPr id="119" name="Connector 118"/>
          <p:cNvCxnSpPr/>
          <p:nvPr/>
        </p:nvCxnSpPr>
        <p:spPr>
          <a:xfrm>
            <a:off x="9756648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756648" y="1691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756648" y="1691640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756648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768328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11695176" y="1691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768328" y="1691640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768328" y="1691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756648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756648" y="6263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756648" y="6190488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756648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1768328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695176" y="6263640"/>
            <a:ext cx="73152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768328" y="6190488"/>
            <a:ext cx="0" cy="7315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1768328" y="6263640"/>
            <a:ext cx="0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9893808" y="182880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0E5FF"/>
                </a:solidFill>
                <a:latin typeface="Courier New"/>
              </a:defRPr>
            </a:pPr>
            <a:r>
              <a:t>05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93808" y="23774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7×24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893808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在线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893808" y="3246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Always On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9893808" y="3703320"/>
            <a:ext cx="1600200" cy="0"/>
          </a:xfrm>
          <a:prstGeom prst="line">
            <a:avLst/>
          </a:prstGeom>
          <a:ln w="63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9893808" y="397764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AABBCC"/>
                </a:solidFill>
                <a:latin typeface="Courier New"/>
              </a:defRPr>
            </a:pPr>
            <a:r>
              <a:t>全天候智能服务</a:t>
            </a:r>
            <a:br/>
            <a:r>
              <a:t>零等待即时响应</a:t>
            </a:r>
          </a:p>
        </p:txBody>
      </p:sp>
    </p:spTree>
  </p:cSld>
  <p:timing>
    <p:tnLst>
      <p:par>
        <p:cTn fill="hold"/>
        <p:childTnLst>
          <p:par>
            <p:cTn nodeType="clickEffect"/>
            <p:childTnLst>
              <p:animEffect transition="in" filter="fade">
                <p:cBhvr>
                  <p:spTgt spid="22"/>
                </p:cBhvr>
                <p:fade/>
              </p:animEffect>
            </p:childTnLst>
          </p:par>
        </p:childTnLst>
      </p:par>
      <p:par>
        <p:cTn fill="hold">
          <p:stCondLst>
            <p:cond delay="100"/>
          </p:stCondLst>
        </p:cTn>
        <p:childTnLst>
          <p:par>
            <p:cTn nodeType="clickEffect"/>
            <p:childTnLst>
              <p:animEffect transition="in" filter="fade">
                <p:cBhvr>
                  <p:spTgt spid="23"/>
                </p:cBhvr>
                <p:fade/>
              </p:animEffect>
            </p:childTnLst>
          </p:par>
        </p:childTnLst>
      </p:par>
      <p:par>
        <p:cTn fill="hold">
          <p:stCondLst>
            <p:cond delay="20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24"/>
                </p:cBhvr>
              </p:animEffect>
            </p:childTnLst>
          </p:par>
        </p:childTnLst>
      </p:par>
      <p:par>
        <p:cTn fill="hold">
          <p:stCondLst>
            <p:cond delay="300"/>
          </p:stCondLst>
        </p:cTn>
        <p:childTnLst>
          <p:par>
            <p:cTn nodeType="clickEffect"/>
            <p:childTnLst>
              <p:animEffect transition="in" filter="fly" direction="fromBottom">
                <p:cBhvr>
                  <p:spTgt spid="26"/>
                </p:cBhvr>
              </p:animEffect>
            </p:childTnLst>
          </p:par>
        </p:childTnLst>
      </p:par>
      <p:par>
        <p:cTn fill="hold">
          <p:stCondLst>
            <p:cond delay="450"/>
          </p:stCondLst>
        </p:cTn>
        <p:childTnLst>
          <p:par>
            <p:cTn nodeType="clickEffect"/>
            <p:childTnLst>
              <p:animEffect transition="in" filter="fly" direction="fromBottom">
                <p:cBhvr>
                  <p:spTgt spid="49"/>
                </p:cBhvr>
              </p:animEffect>
            </p:childTnLst>
          </p:par>
        </p:childTnLst>
      </p:par>
      <p:par>
        <p:cTn fill="hold">
          <p:stCondLst>
            <p:cond delay="600"/>
          </p:stCondLst>
        </p:cTn>
        <p:childTnLst>
          <p:par>
            <p:cTn nodeType="clickEffect"/>
            <p:childTnLst>
              <p:animEffect transition="in" filter="fly" direction="fromBottom">
                <p:cBhvr>
                  <p:spTgt spid="72"/>
                </p:cBhvr>
              </p:animEffect>
            </p:childTnLst>
          </p:par>
        </p:childTnLst>
      </p:par>
      <p:par>
        <p:cTn fill="hold">
          <p:stCondLst>
            <p:cond delay="750"/>
          </p:stCondLst>
        </p:cTn>
        <p:childTnLst>
          <p:par>
            <p:cTn nodeType="clickEffect"/>
            <p:childTnLst>
              <p:animEffect transition="in" filter="fly" direction="fromBottom">
                <p:cBhvr>
                  <p:spTgt spid="95"/>
                </p:cBhvr>
              </p:animEffect>
            </p:childTnLst>
          </p:par>
        </p:childTnLst>
      </p:par>
      <p:par>
        <p:cTn fill="hold">
          <p:stCondLst>
            <p:cond delay="900"/>
          </p:stCondLst>
        </p:cTn>
        <p:childTnLst>
          <p:par>
            <p:cTn nodeType="clickEffect"/>
            <p:childTnLst>
              <p:animEffect transition="in" filter="fly" direction="fromBottom">
                <p:cBhvr>
                  <p:spTgt spid="118"/>
                </p:cBhvr>
              </p:animEffect>
            </p:childTnLst>
          </p:par>
        </p:childTnLst>
      </p:par>
    </p:tnLst>
  </p:timing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0" y="0"/>
            <a:ext cx="2103120" cy="3200400"/>
          </a:xfrm>
          <a:prstGeom prst="rect">
            <a:avLst/>
          </a:prstGeom>
          <a:solidFill>
            <a:srgbClr val="1A0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3657600" cy="1828800"/>
          </a:xfrm>
          <a:prstGeom prst="rect">
            <a:avLst/>
          </a:prstGeom>
          <a:solidFill>
            <a:srgbClr val="00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287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829300"/>
            <a:ext cx="12191695" cy="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19169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47923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3771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525" y="0"/>
            <a:ext cx="0" cy="6858000"/>
          </a:xfrm>
          <a:prstGeom prst="line">
            <a:avLst/>
          </a:prstGeom>
          <a:ln w="3810">
            <a:solidFill>
              <a:srgbClr val="0A1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4320" y="27432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" y="27432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917375" y="27432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643055" y="27432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4320" y="630936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" y="658368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917375" y="6309360"/>
            <a:ext cx="0" cy="2743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643055" y="6583680"/>
            <a:ext cx="274320" cy="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2286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FF0080"/>
                </a:solidFill>
                <a:latin typeface="Courier New"/>
              </a:defRPr>
            </a:pPr>
            <a:r>
              <a:t>//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3800" b="1">
                <a:solidFill>
                  <a:srgbClr val="FFFFFF"/>
                </a:solidFill>
                <a:latin typeface="Arial"/>
              </a:defRPr>
            </a:pPr>
            <a:r>
              <a:t>技 术 架 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234440"/>
            <a:ext cx="2011680" cy="27432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FF0080">
                <a:alpha val="60000"/>
              </a:srgbClr>
            </a:glow>
          </a:effectLst>
        </a:spPr>
      </p:sp>
      <p:cxnSp>
        <p:nvCxnSpPr>
          <p:cNvPr id="25" name="Connector 24"/>
          <p:cNvCxnSpPr/>
          <p:nvPr/>
        </p:nvCxnSpPr>
        <p:spPr>
          <a:xfrm>
            <a:off x="731520" y="1417320"/>
            <a:ext cx="10698480" cy="0"/>
          </a:xfrm>
          <a:prstGeom prst="line">
            <a:avLst/>
          </a:prstGeom>
          <a:ln w="6350">
            <a:solidFill>
              <a:srgbClr val="FF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371600" y="1828800"/>
            <a:ext cx="9326880" cy="777240"/>
          </a:xfrm>
          <a:prstGeom prst="rect">
            <a:avLst/>
          </a:prstGeom>
          <a:solidFill>
            <a:srgbClr val="080C1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E5FF">
                <a:alpha val="60000"/>
              </a:srgbClr>
            </a:glow>
          </a:effectLst>
        </a:spPr>
      </p:sp>
      <p:sp>
        <p:nvSpPr>
          <p:cNvPr id="27" name="Rectangle 26"/>
          <p:cNvSpPr/>
          <p:nvPr/>
        </p:nvSpPr>
        <p:spPr>
          <a:xfrm>
            <a:off x="1463040" y="1920240"/>
            <a:ext cx="685800" cy="594360"/>
          </a:xfrm>
          <a:prstGeom prst="rect">
            <a:avLst/>
          </a:prstGeom>
          <a:solidFill>
            <a:srgbClr val="0A14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1920240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2200" b="1">
                <a:solidFill>
                  <a:srgbClr val="00E5FF"/>
                </a:solidFill>
                <a:latin typeface="Courier New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90195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  <a:latin typeface="Arial"/>
              </a:defRPr>
            </a:pPr>
            <a:r>
              <a:t>接入层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2677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Access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1920240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00E5FF"/>
                </a:solidFill>
                <a:latin typeface="Courier New"/>
              </a:defRPr>
            </a:pPr>
            <a:r>
              <a:t>WebSocket · REST API · OAuth2 · 负载均衡</a:t>
            </a:r>
          </a:p>
        </p:txBody>
      </p:sp>
      <p:sp>
        <p:nvSpPr>
          <p:cNvPr id="32" name="Isosceles Triangle 31"/>
          <p:cNvSpPr/>
          <p:nvPr/>
        </p:nvSpPr>
        <p:spPr>
          <a:xfrm rot="10800000">
            <a:off x="5980176" y="2624328"/>
            <a:ext cx="109728" cy="109728"/>
          </a:xfrm>
          <a:prstGeom prst="triangl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30000">
              <a:srgbClr val="00E5FF">
                <a:alpha val="50000"/>
              </a:srgbClr>
            </a:glow>
          </a:effectLst>
        </a:spPr>
      </p:sp>
      <p:sp>
        <p:nvSpPr>
          <p:cNvPr id="33" name="Rectangle 32"/>
          <p:cNvSpPr/>
          <p:nvPr/>
        </p:nvSpPr>
        <p:spPr>
          <a:xfrm>
            <a:off x="1371600" y="2770632"/>
            <a:ext cx="9326880" cy="777240"/>
          </a:xfrm>
          <a:prstGeom prst="rect">
            <a:avLst/>
          </a:prstGeom>
          <a:solidFill>
            <a:srgbClr val="080C18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00FF88">
                <a:alpha val="60000"/>
              </a:srgbClr>
            </a:glow>
          </a:effectLst>
        </a:spPr>
      </p:sp>
      <p:sp>
        <p:nvSpPr>
          <p:cNvPr id="34" name="Rectangle 33"/>
          <p:cNvSpPr/>
          <p:nvPr/>
        </p:nvSpPr>
        <p:spPr>
          <a:xfrm>
            <a:off x="1463040" y="2862072"/>
            <a:ext cx="685800" cy="594360"/>
          </a:xfrm>
          <a:prstGeom prst="rect">
            <a:avLst/>
          </a:prstGeom>
          <a:solidFill>
            <a:srgbClr val="0A142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2862072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2200" b="1">
                <a:solidFill>
                  <a:srgbClr val="00FF88"/>
                </a:solidFill>
                <a:latin typeface="Courier New"/>
              </a:defRPr>
            </a:pPr>
            <a:r>
              <a:t>L2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2843784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  <a:latin typeface="Arial"/>
              </a:defRPr>
            </a:pPr>
            <a:r>
              <a:t>前端层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209544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2862072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00FF88"/>
                </a:solidFill>
                <a:latin typeface="Courier New"/>
              </a:defRPr>
            </a:pPr>
            <a:r>
              <a:t>Vue 3 · Live2D Cubism 5 · Web Audio API · WaveSurfer</a:t>
            </a:r>
          </a:p>
        </p:txBody>
      </p:sp>
      <p:sp>
        <p:nvSpPr>
          <p:cNvPr id="39" name="Isosceles Triangle 38"/>
          <p:cNvSpPr/>
          <p:nvPr/>
        </p:nvSpPr>
        <p:spPr>
          <a:xfrm rot="10800000">
            <a:off x="5980176" y="3566160"/>
            <a:ext cx="109728" cy="109728"/>
          </a:xfrm>
          <a:prstGeom prst="triangl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30000">
              <a:srgbClr val="00FF88">
                <a:alpha val="50000"/>
              </a:srgbClr>
            </a:glow>
          </a:effectLst>
        </a:spPr>
      </p:sp>
      <p:sp>
        <p:nvSpPr>
          <p:cNvPr id="40" name="Rectangle 39"/>
          <p:cNvSpPr/>
          <p:nvPr/>
        </p:nvSpPr>
        <p:spPr>
          <a:xfrm>
            <a:off x="1371600" y="3712464"/>
            <a:ext cx="9326880" cy="777240"/>
          </a:xfrm>
          <a:prstGeom prst="rect">
            <a:avLst/>
          </a:prstGeom>
          <a:solidFill>
            <a:srgbClr val="080C18"/>
          </a:solidFill>
          <a:ln w="1016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FF0080">
                <a:alpha val="60000"/>
              </a:srgbClr>
            </a:glow>
          </a:effectLst>
        </a:spPr>
      </p:sp>
      <p:sp>
        <p:nvSpPr>
          <p:cNvPr id="41" name="Rectangle 40"/>
          <p:cNvSpPr/>
          <p:nvPr/>
        </p:nvSpPr>
        <p:spPr>
          <a:xfrm>
            <a:off x="1463040" y="3803904"/>
            <a:ext cx="685800" cy="594360"/>
          </a:xfrm>
          <a:prstGeom prst="rect">
            <a:avLst/>
          </a:prstGeom>
          <a:solidFill>
            <a:srgbClr val="0A1422"/>
          </a:solidFill>
          <a:ln w="1524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63040" y="3803904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2200" b="1">
                <a:solidFill>
                  <a:srgbClr val="FF0080"/>
                </a:solidFill>
                <a:latin typeface="Courier New"/>
              </a:defRPr>
            </a:pPr>
            <a:r>
              <a:t>L3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3785616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  <a:latin typeface="Arial"/>
              </a:defRPr>
            </a:pPr>
            <a:r>
              <a:t>应用层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4151376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803904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FF0080"/>
                </a:solidFill>
                <a:latin typeface="Courier New"/>
              </a:defRPr>
            </a:pPr>
            <a:r>
              <a:t>FastAPI · LangChain · Multi-Agent · 流式管道</a:t>
            </a:r>
          </a:p>
        </p:txBody>
      </p:sp>
      <p:sp>
        <p:nvSpPr>
          <p:cNvPr id="46" name="Isosceles Triangle 45"/>
          <p:cNvSpPr/>
          <p:nvPr/>
        </p:nvSpPr>
        <p:spPr>
          <a:xfrm rot="10800000">
            <a:off x="5980176" y="4507992"/>
            <a:ext cx="109728" cy="109728"/>
          </a:xfrm>
          <a:prstGeom prst="triangle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30000">
              <a:srgbClr val="FF0080">
                <a:alpha val="50000"/>
              </a:srgbClr>
            </a:glow>
          </a:effectLst>
        </a:spPr>
      </p:sp>
      <p:sp>
        <p:nvSpPr>
          <p:cNvPr id="47" name="Rectangle 46"/>
          <p:cNvSpPr/>
          <p:nvPr/>
        </p:nvSpPr>
        <p:spPr>
          <a:xfrm>
            <a:off x="1371600" y="4654296"/>
            <a:ext cx="9326880" cy="777240"/>
          </a:xfrm>
          <a:prstGeom prst="rect">
            <a:avLst/>
          </a:prstGeom>
          <a:solidFill>
            <a:srgbClr val="080C18"/>
          </a:solidFill>
          <a:ln w="1016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FFAA00">
                <a:alpha val="60000"/>
              </a:srgbClr>
            </a:glow>
          </a:effectLst>
        </a:spPr>
      </p:sp>
      <p:sp>
        <p:nvSpPr>
          <p:cNvPr id="48" name="Rectangle 47"/>
          <p:cNvSpPr/>
          <p:nvPr/>
        </p:nvSpPr>
        <p:spPr>
          <a:xfrm>
            <a:off x="1463040" y="4745736"/>
            <a:ext cx="685800" cy="594360"/>
          </a:xfrm>
          <a:prstGeom prst="rect">
            <a:avLst/>
          </a:prstGeom>
          <a:solidFill>
            <a:srgbClr val="0A1422"/>
          </a:solidFill>
          <a:ln w="1524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3040" y="4745736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2200" b="1">
                <a:solidFill>
                  <a:srgbClr val="FFAA00"/>
                </a:solidFill>
                <a:latin typeface="Courier New"/>
              </a:defRPr>
            </a:pPr>
            <a:r>
              <a:t>L4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72744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  <a:latin typeface="Arial"/>
              </a:defRPr>
            </a:pPr>
            <a:r>
              <a:t>数据层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23160" y="509320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Data Layer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4745736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FFAA00"/>
                </a:solidFill>
                <a:latin typeface="Courier New"/>
              </a:defRPr>
            </a:pPr>
            <a:r>
              <a:t>PostgreSQL + pgvector · Redis · 阿里云 OSS · Elasticsearch</a:t>
            </a:r>
          </a:p>
        </p:txBody>
      </p:sp>
      <p:sp>
        <p:nvSpPr>
          <p:cNvPr id="53" name="Isosceles Triangle 52"/>
          <p:cNvSpPr/>
          <p:nvPr/>
        </p:nvSpPr>
        <p:spPr>
          <a:xfrm rot="10800000">
            <a:off x="5980176" y="5449824"/>
            <a:ext cx="109728" cy="109728"/>
          </a:xfrm>
          <a:prstGeom prst="triangl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30000">
              <a:srgbClr val="FFAA00">
                <a:alpha val="50000"/>
              </a:srgbClr>
            </a:glow>
          </a:effectLst>
        </a:spPr>
      </p:sp>
      <p:sp>
        <p:nvSpPr>
          <p:cNvPr id="54" name="Rectangle 53"/>
          <p:cNvSpPr/>
          <p:nvPr/>
        </p:nvSpPr>
        <p:spPr>
          <a:xfrm>
            <a:off x="1371600" y="5596128"/>
            <a:ext cx="9326880" cy="777240"/>
          </a:xfrm>
          <a:prstGeom prst="rect">
            <a:avLst/>
          </a:prstGeom>
          <a:solidFill>
            <a:srgbClr val="080C18"/>
          </a:solidFill>
          <a:ln w="10160">
            <a:solidFill>
              <a:srgbClr val="CC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glow rad="80000">
              <a:srgbClr val="CC55FF">
                <a:alpha val="60000"/>
              </a:srgbClr>
            </a:glow>
          </a:effectLst>
        </a:spPr>
      </p:sp>
      <p:sp>
        <p:nvSpPr>
          <p:cNvPr id="55" name="Rectangle 54"/>
          <p:cNvSpPr/>
          <p:nvPr/>
        </p:nvSpPr>
        <p:spPr>
          <a:xfrm>
            <a:off x="1463040" y="5687568"/>
            <a:ext cx="685800" cy="594360"/>
          </a:xfrm>
          <a:prstGeom prst="rect">
            <a:avLst/>
          </a:prstGeom>
          <a:solidFill>
            <a:srgbClr val="0A1422"/>
          </a:solidFill>
          <a:ln w="15240">
            <a:solidFill>
              <a:srgbClr val="CC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63040" y="5687568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2200" b="1">
                <a:solidFill>
                  <a:srgbClr val="CC55FF"/>
                </a:solidFill>
                <a:latin typeface="Courier New"/>
              </a:defRPr>
            </a:pPr>
            <a:r>
              <a:t>L5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23160" y="56692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  <a:latin typeface="Arial"/>
              </a:defRPr>
            </a:pPr>
            <a:r>
              <a:t>AI 服务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3160" y="603504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AI Services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5687568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CC55FF"/>
                </a:solidFill>
                <a:latin typeface="Courier New"/>
              </a:defRPr>
            </a:pPr>
            <a:r>
              <a:t>LLM · ASR · TTS · Embedding · Reranker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1360" y="196596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0E5FF"/>
                </a:solidFill>
                <a:latin typeface="Courier New"/>
              </a:defRPr>
            </a:pPr>
            <a:r>
              <a:t>WebSocket 全双工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360" y="228600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AABBCC"/>
                </a:solidFill>
                <a:latin typeface="Courier New"/>
              </a:defRPr>
            </a:pPr>
            <a:r>
              <a:t>实时语音流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260604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0FF88"/>
                </a:solidFill>
                <a:latin typeface="Courier New"/>
              </a:defRPr>
            </a:pPr>
            <a:r>
              <a:t>Live2D Cubism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81360" y="2926079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AABBCC"/>
                </a:solidFill>
                <a:latin typeface="Courier New"/>
              </a:defRPr>
            </a:pPr>
            <a:r>
              <a:t>角色渲染引擎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32461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FF0080"/>
                </a:solidFill>
                <a:latin typeface="Courier New"/>
              </a:defRPr>
            </a:pPr>
            <a:r>
              <a:t>LangChain 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356616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AABBCC"/>
                </a:solidFill>
                <a:latin typeface="Courier New"/>
              </a:defRPr>
            </a:pPr>
            <a:r>
              <a:t>智能任务调度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81360" y="3886199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FFAA00"/>
                </a:solidFill>
                <a:latin typeface="Courier New"/>
              </a:defRPr>
            </a:pPr>
            <a:r>
              <a:t>pgvector 语义检索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4206239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AABBCC"/>
                </a:solidFill>
                <a:latin typeface="Courier New"/>
              </a:defRPr>
            </a:pPr>
            <a:r>
              <a:t>高性能向量索引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81360" y="452628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CC55FF"/>
                </a:solidFill>
                <a:latin typeface="Courier New"/>
              </a:defRPr>
            </a:pPr>
            <a:r>
              <a:t>模型编排管线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81360" y="48463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AABBCC"/>
                </a:solidFill>
                <a:latin typeface="Courier New"/>
              </a:defRPr>
            </a:pPr>
            <a:r>
              <a:t>多模型统一调度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71600" y="5943600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AABBCC"/>
                </a:solidFill>
                <a:latin typeface="Courier New"/>
              </a:defRPr>
            </a:pPr>
            <a:r>
              <a:t>↑ 数据上行: 用户输入 → ASR → NLU → Agent → RAG → LLM → TTS → 前端渲染</a:t>
            </a:r>
          </a:p>
        </p:txBody>
      </p:sp>
    </p:spTree>
  </p:cSld>
  <p:timing>
    <p:tnLst>
      <p:par>
        <p:cTn fill="hold"/>
        <p:childTnLst>
          <p:par>
            <p:cTn nodeType="clickEffect"/>
            <p:childTnLst>
              <p:animEffect transition="in" filter="fade">
                <p:cBhvr>
                  <p:spTgt spid="22"/>
                </p:cBhvr>
                <p:fade/>
              </p:animEffect>
            </p:childTnLst>
          </p:par>
        </p:childTnLst>
      </p:par>
      <p:par>
        <p:cTn fill="hold">
          <p:stCondLst>
            <p:cond delay="100"/>
          </p:stCondLst>
        </p:cTn>
        <p:childTnLst>
          <p:par>
            <p:cTn nodeType="clickEffect"/>
            <p:childTnLst>
              <p:animEffect transition="in" filter="fade">
                <p:cBhvr>
                  <p:spTgt spid="23"/>
                </p:cBhvr>
                <p:fade/>
              </p:animEffect>
            </p:childTnLst>
          </p:par>
        </p:childTnLst>
      </p:par>
      <p:par>
        <p:cTn fill="hold">
          <p:stCondLst>
            <p:cond delay="20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24"/>
                </p:cBhvr>
              </p:animEffect>
            </p:childTnLst>
          </p:par>
        </p:childTnLst>
      </p:par>
      <p:par>
        <p:cTn fill="hold">
          <p:stCondLst>
            <p:cond delay="30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26"/>
                </p:cBhvr>
              </p:animEffect>
            </p:childTnLst>
          </p:par>
        </p:childTnLst>
      </p:par>
      <p:par>
        <p:cTn fill="hold">
          <p:stCondLst>
            <p:cond delay="48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33"/>
                </p:cBhvr>
              </p:animEffect>
            </p:childTnLst>
          </p:par>
        </p:childTnLst>
      </p:par>
      <p:par>
        <p:cTn fill="hold">
          <p:stCondLst>
            <p:cond delay="66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40"/>
                </p:cBhvr>
              </p:animEffect>
            </p:childTnLst>
          </p:par>
        </p:childTnLst>
      </p:par>
      <p:par>
        <p:cTn fill="hold">
          <p:stCondLst>
            <p:cond delay="84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47"/>
                </p:cBhvr>
              </p:animEffect>
            </p:childTnLst>
          </p:par>
        </p:childTnLst>
      </p:par>
      <p:par>
        <p:cTn fill="hold">
          <p:stCondLst>
            <p:cond delay="1020"/>
          </p:stCondLst>
        </p:cTn>
        <p:childTnLst>
          <p:par>
            <p:cTn nodeType="clickEffect"/>
            <p:childTnLst>
              <p:animEffect transition="in" filter="wipe" direction="fromRight">
                <p:cBhvr>
                  <p:spTgt spid="54"/>
                </p:cBhvr>
              </p:animEffect>
            </p:childTnLst>
          </p:par>
        </p:childTnLst>
      </p:par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