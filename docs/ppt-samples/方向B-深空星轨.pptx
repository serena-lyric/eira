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0" y="1188720"/>
            <a:ext cx="5790895" cy="25400"/>
          </a:xfrm>
          <a:prstGeom prst="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417320"/>
            <a:ext cx="579089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F0C060"/>
                </a:solidFill>
                <a:latin typeface="Arial"/>
              </a:defRPr>
            </a:pPr>
            <a:r>
              <a:t>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57908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80C8FF"/>
                </a:solidFill>
                <a:latin typeface="Arial"/>
              </a:defRPr>
            </a:pPr>
            <a:r>
              <a:t>AI数字人 景区导览系统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62095" cy="25400"/>
          </a:xfrm>
          <a:prstGeom prst="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114800"/>
            <a:ext cx="48764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C0D0E0"/>
                </a:solidFill>
                <a:latin typeface="Arial"/>
              </a:defRPr>
            </a:pPr>
            <a:r>
              <a:t>中国软件杯 · 大学生软件设计大赛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669280"/>
            <a:ext cx="6705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506080"/>
                </a:solidFill>
                <a:latin typeface="Arial"/>
              </a:defRPr>
            </a:pPr>
            <a:r>
              <a:t>——  深空星轨  ·  Deep Space Orbit  ——</a:t>
            </a:r>
          </a:p>
        </p:txBody>
      </p:sp>
    </p:spTree>
  </p:cSld>
  <p:clrMapOvr>
    <a:masterClrMapping/>
  </p:clrMapOvr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03" dur="1200" fill="hold">
                      <p:childTnLst>
                        <p:animEffect transition="in" filter="fade">
                          <p:cTn id="104" dur="1200"/>
                          <p:tgtEl>
                            <p:spTgt spid="4"/>
                          </p:tgtEl>
                        </p:animEffect>
                        <p:animEffect transition="in" filter="fade">
                          <p:cTn id="105" dur="800"/>
                          <p:tgtEl>
                            <p:spTgt spid="3"/>
                          </p:tgtEl>
                        </p:animEffect>
                      </p:childTnLst>
                    </p:cTn>
                  </p:par>
                  <p:par>
                    <p:cTn id="106" dur="1000" fill="hold">
                      <p:childTnLst>
                        <p:animEffect transition="in" filter="fade">
                          <p:cTn id="107" dur="1000"/>
                          <p:tgtEl>
                            <p:spTgt spid="5"/>
                          </p:tgtEl>
                        </p:animEffect>
                        <p:animEffect transition="in" filter="fade">
                          <p:cTn id="108" dur="800"/>
                          <p:tgtEl>
                            <p:spTgt spid="6"/>
                          </p:tgtEl>
                        </p:animEffect>
                        <p:animEffect transition="in" filter="fade">
                          <p:cTn id="109" dur="800"/>
                          <p:tgtEl>
                            <p:spTgt spid="7"/>
                          </p:tgtEl>
                        </p:animEffect>
                      </p:childTnLst>
                    </p:cTn>
                  </p:par>
                  <p:par>
                    <p:cTn id="110" dur="800" fill="hold">
                      <p:childTnLst>
                        <p:animEffect transition="in" filter="fade">
                          <p:cTn id="111" dur="800"/>
                          <p:tgtEl>
                            <p:spTgt spid="8"/>
                          </p:tgtEl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transition advTm="800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2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365760"/>
            <a:ext cx="6705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F0C060"/>
                </a:solidFill>
                <a:latin typeface="Arial"/>
              </a:defRPr>
            </a:pPr>
            <a:r>
              <a:t>核心亮点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047695" cy="25400"/>
          </a:xfrm>
          <a:prstGeom prst="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18304" y="1371600"/>
            <a:ext cx="2834640" cy="1417320"/>
          </a:xfrm>
          <a:prstGeom prst="roundRect">
            <a:avLst>
              <a:gd name="adj" fmla="val 10000"/>
            </a:avLst>
          </a:prstGeom>
          <a:solidFill>
            <a:srgbClr val="141830">
              <a:alpha val="75000"/>
            </a:srgbClr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55464" y="15087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0C060"/>
                </a:solidFill>
                <a:latin typeface="Arial"/>
              </a:defRPr>
            </a:pPr>
            <a: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1224" y="150876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0C060"/>
                </a:solidFill>
                <a:latin typeface="Arial"/>
              </a:defRPr>
            </a:pPr>
            <a:r>
              <a:t>多模态交互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1224" y="181051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070A0"/>
                </a:solidFill>
                <a:latin typeface="Arial"/>
              </a:defRPr>
            </a:pPr>
            <a:r>
              <a:t>Multimodal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210312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Arial"/>
              </a:defRPr>
            </a:pPr>
            <a:r>
              <a:t>语音 + 文字多模态对话，支持自然语言理解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560320"/>
            <a:ext cx="2834640" cy="1417320"/>
          </a:xfrm>
          <a:prstGeom prst="roundRect">
            <a:avLst>
              <a:gd name="adj" fmla="val 10000"/>
            </a:avLst>
          </a:prstGeom>
          <a:solidFill>
            <a:srgbClr val="141830">
              <a:alpha val="75000"/>
            </a:srgbClr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6974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80C8FF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974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80C8FF"/>
                </a:solidFill>
                <a:latin typeface="Arial"/>
              </a:defRPr>
            </a:pPr>
            <a:r>
              <a:t>Live2D数字人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9923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070A0"/>
                </a:solidFill>
                <a:latin typeface="Arial"/>
              </a:defRPr>
            </a:pPr>
            <a:r>
              <a:t>Live2D Avatar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Arial"/>
              </a:defRPr>
            </a:pPr>
            <a:r>
              <a:t>二次元角色实时渲染，行为表情自然流畅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06240"/>
            <a:ext cx="2834640" cy="1417320"/>
          </a:xfrm>
          <a:prstGeom prst="roundRect">
            <a:avLst>
              <a:gd name="adj" fmla="val 10000"/>
            </a:avLst>
          </a:prstGeom>
          <a:solidFill>
            <a:srgbClr val="141830">
              <a:alpha val="75000"/>
            </a:srgbClr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0C060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4340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0C060"/>
                </a:solidFill>
                <a:latin typeface="Arial"/>
              </a:defRPr>
            </a:pPr>
            <a:r>
              <a:t>RAG知识库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64515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070A0"/>
                </a:solidFill>
                <a:latin typeface="Arial"/>
              </a:defRPr>
            </a:pPr>
            <a:r>
              <a:t>RAG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3776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Arial"/>
              </a:defRPr>
            </a:pPr>
            <a:r>
              <a:t>景区知识检索增强生成，精准解答游客问题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560320"/>
            <a:ext cx="2834640" cy="1417320"/>
          </a:xfrm>
          <a:prstGeom prst="roundRect">
            <a:avLst>
              <a:gd name="adj" fmla="val 10000"/>
            </a:avLst>
          </a:prstGeom>
          <a:solidFill>
            <a:srgbClr val="141830">
              <a:alpha val="75000"/>
            </a:srgbClr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9748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80C8FF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69748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80C8FF"/>
                </a:solidFill>
                <a:latin typeface="Arial"/>
              </a:defRPr>
            </a:pPr>
            <a:r>
              <a:t>语音流式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99923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070A0"/>
                </a:solidFill>
                <a:latin typeface="Arial"/>
              </a:defRPr>
            </a:pPr>
            <a:r>
              <a:t>Streaming 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29184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Arial"/>
              </a:defRPr>
            </a:pPr>
            <a:r>
              <a:t>WebSocket实时语音流，低延迟自然对话体验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206240"/>
            <a:ext cx="2834640" cy="1417320"/>
          </a:xfrm>
          <a:prstGeom prst="roundRect">
            <a:avLst>
              <a:gd name="adj" fmla="val 10000"/>
            </a:avLst>
          </a:prstGeom>
          <a:solidFill>
            <a:srgbClr val="141830">
              <a:alpha val="75000"/>
            </a:srgbClr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3434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0C060"/>
                </a:solidFill>
                <a:latin typeface="Arial"/>
              </a:defRPr>
            </a:pPr>
            <a: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343400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0C060"/>
                </a:solidFill>
                <a:latin typeface="Arial"/>
              </a:defRPr>
            </a:pPr>
            <a:r>
              <a:t>7×24在线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64515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070A0"/>
                </a:solidFill>
                <a:latin typeface="Arial"/>
              </a:defRPr>
            </a:pPr>
            <a:r>
              <a:t>Always Online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93776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Arial"/>
              </a:defRPr>
            </a:pPr>
            <a:r>
              <a:t>全天候智能服务，无需人工值守降低运营成本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212080"/>
            <a:ext cx="30476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0C060"/>
                </a:solidFill>
                <a:latin typeface="Arial"/>
              </a:defRPr>
            </a:pPr>
            <a:r>
              <a:t>Eira 智能导览</a:t>
            </a:r>
          </a:p>
        </p:txBody>
      </p:sp>
    </p:spTree>
  </p:cSld>
  <p:clrMapOvr>
    <a:masterClrMapping/>
  </p:clrMapOvr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03" dur="800" fill="hold">
                      <p:childTnLst>
                        <p:animEffect transition="in" filter="fade">
                          <p:cTn id="104" dur="800"/>
                          <p:tgtEl>
                            <p:spTgt spid="3"/>
                          </p:tgtEl>
                        </p:animEffect>
                      </p:childTnLst>
                    </p:cTn>
                  </p:par>
                  <p:par>
                    <p:cTn id="105" dur="600" fill="hold">
                      <p:childTnLst>
                        <p:animEffect transition="in" filter="fade">
                          <p:cTn id="106" dur="600"/>
                          <p:tgtEl>
                            <p:spTgt spid="5"/>
                          </p:tgtEl>
                        </p:animEffect>
                        <p:animEffect transition="in" filter="fade">
                          <p:cTn id="107" dur="400"/>
                          <p:tgtEl>
                            <p:spTgt spid="6"/>
                          </p:tgtEl>
                        </p:animEffect>
                        <p:animEffect transition="in" filter="fade">
                          <p:cTn id="108" dur="500"/>
                          <p:tgtEl>
                            <p:spTgt spid="7"/>
                          </p:tgtEl>
                        </p:animEffect>
                      </p:childTnLst>
                    </p:cTn>
                  </p:par>
                  <p:par>
                    <p:cTn id="109" dur="600" fill="hold">
                      <p:childTnLst>
                        <p:animEffect transition="in" filter="fade">
                          <p:cTn id="110" dur="600"/>
                          <p:tgtEl>
                            <p:spTgt spid="10"/>
                          </p:tgtEl>
                        </p:animEffect>
                        <p:animEffect transition="in" filter="fade">
                          <p:cTn id="111" dur="400"/>
                          <p:tgtEl>
                            <p:spTgt spid="11"/>
                          </p:tgtEl>
                        </p:animEffect>
                        <p:animEffect transition="in" filter="fade">
                          <p:cTn id="112" dur="500"/>
                          <p:tgtEl>
                            <p:spTgt spid="12"/>
                          </p:tgtEl>
                        </p:animEffect>
                      </p:childTnLst>
                    </p:cTn>
                  </p:par>
                  <p:par>
                    <p:cTn id="113" dur="600" fill="hold">
                      <p:childTnLst>
                        <p:animEffect transition="in" filter="fade">
                          <p:cTn id="114" dur="600"/>
                          <p:tgtEl>
                            <p:spTgt spid="15"/>
                          </p:tgtEl>
                        </p:animEffect>
                        <p:animEffect transition="in" filter="fade">
                          <p:cTn id="115" dur="400"/>
                          <p:tgtEl>
                            <p:spTgt spid="16"/>
                          </p:tgtEl>
                        </p:animEffect>
                        <p:animEffect transition="in" filter="fade">
                          <p:cTn id="116" dur="500"/>
                          <p:tgtEl>
                            <p:spTgt spid="17"/>
                          </p:tgtEl>
                        </p:animEffect>
                      </p:childTnLst>
                    </p:cTn>
                  </p:par>
                  <p:par>
                    <p:cTn id="117" dur="600" fill="hold">
                      <p:childTnLst>
                        <p:animEffect transition="in" filter="fade">
                          <p:cTn id="118" dur="600"/>
                          <p:tgtEl>
                            <p:spTgt spid="20"/>
                          </p:tgtEl>
                        </p:animEffect>
                        <p:animEffect transition="in" filter="fade">
                          <p:cTn id="119" dur="400"/>
                          <p:tgtEl>
                            <p:spTgt spid="21"/>
                          </p:tgtEl>
                        </p:animEffect>
                        <p:animEffect transition="in" filter="fade">
                          <p:cTn id="120" dur="500"/>
                          <p:tgtEl>
                            <p:spTgt spid="22"/>
                          </p:tgtEl>
                        </p:animEffect>
                      </p:childTnLst>
                    </p:cTn>
                  </p:par>
                  <p:par>
                    <p:cTn id="121" dur="600" fill="hold">
                      <p:childTnLst>
                        <p:animEffect transition="in" filter="fade">
                          <p:cTn id="122" dur="600"/>
                          <p:tgtEl>
                            <p:spTgt spid="25"/>
                          </p:tgtEl>
                        </p:animEffect>
                        <p:animEffect transition="in" filter="fade">
                          <p:cTn id="123" dur="400"/>
                          <p:tgtEl>
                            <p:spTgt spid="26"/>
                          </p:tgtEl>
                        </p:animEffect>
                        <p:animEffect transition="in" filter="fade">
                          <p:cTn id="124" dur="500"/>
                          <p:tgtEl>
                            <p:spTgt spid="27"/>
                          </p:tgtEl>
                        </p:animEffect>
                      </p:childTnLst>
                    </p:cTn>
                  </p:par>
                  <p:par>
                    <p:cTn id="125" dur="800" fill="hold">
                      <p:childTnLst>
                        <p:animEffect transition="in" filter="fade">
                          <p:cTn id="126" dur="800"/>
                          <p:tgtEl>
                            <p:spTgt spid="30"/>
                          </p:tgtEl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transition advTm="600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_2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28600"/>
            <a:ext cx="76196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0C060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777240"/>
            <a:ext cx="3047695" cy="25400"/>
          </a:xfrm>
          <a:prstGeom prst="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097280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0F1530"/>
          </a:solidFill>
          <a:ln w="1905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83080" y="1234440"/>
            <a:ext cx="457200" cy="457200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2070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A0E2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170432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0C060"/>
                </a:solidFill>
                <a:latin typeface="Arial"/>
              </a:defRPr>
            </a:pPr>
            <a:r>
              <a:t>L1 接入层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1887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06080"/>
                </a:solidFill>
                <a:latin typeface="Arial"/>
              </a:defRPr>
            </a:pPr>
            <a:r>
              <a:t>Access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481328"/>
            <a:ext cx="3383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090B0"/>
                </a:solidFill>
                <a:latin typeface="Arial"/>
              </a:defRPr>
            </a:pPr>
            <a:r>
              <a:t>Web / WeChat Mini Program / API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737360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060A0"/>
                </a:solidFill>
                <a:latin typeface="Arial"/>
              </a:defRPr>
            </a:pPr>
            <a:r>
              <a:t>Vue 3 · TypeScript · Nginx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657600" y="2057400"/>
            <a:ext cx="274320" cy="109728"/>
          </a:xfrm>
          <a:prstGeom prst="downArrow">
            <a:avLst/>
          </a:prstGeom>
          <a:solidFill>
            <a:srgbClr val="30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0" y="1188720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0C1228"/>
          </a:solidFill>
          <a:ln w="6350">
            <a:solidFill>
              <a:srgbClr val="1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2344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0C060"/>
                </a:solidFill>
                <a:latin typeface="Arial"/>
              </a:defRPr>
            </a:pPr>
            <a:r>
              <a:t>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188720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7080A0"/>
                </a:solidFill>
                <a:latin typeface="Arial"/>
              </a:defRPr>
            </a:pPr>
            <a:r>
              <a:t>▸ Web / WeChat Mini Program / 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2167128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0F1530"/>
          </a:solidFill>
          <a:ln w="19050">
            <a:solidFill>
              <a:srgbClr val="8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83080" y="2304288"/>
            <a:ext cx="457200" cy="457200"/>
          </a:xfrm>
          <a:prstGeom prst="ellipse">
            <a:avLst/>
          </a:prstGeom>
          <a:solidFill>
            <a:srgbClr val="8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227685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A0E2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240280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80C8FF"/>
                </a:solidFill>
                <a:latin typeface="Arial"/>
              </a:defRPr>
            </a:pPr>
            <a:r>
              <a:t>L2 前端层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5856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06080"/>
                </a:solidFill>
                <a:latin typeface="Arial"/>
              </a:defRPr>
            </a:pPr>
            <a:r>
              <a:t>Frontend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551176"/>
            <a:ext cx="3383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090B0"/>
                </a:solidFill>
                <a:latin typeface="Arial"/>
              </a:defRPr>
            </a:pPr>
            <a:r>
              <a:t>Live2D Cubism 5  +  WebSocket Client  +  Audio Processor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807208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060A0"/>
                </a:solidFill>
                <a:latin typeface="Arial"/>
              </a:defRPr>
            </a:pPr>
            <a:r>
              <a:t>PixiJS · Cubism SDK · Web Audio API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657600" y="3127248"/>
            <a:ext cx="274320" cy="109728"/>
          </a:xfrm>
          <a:prstGeom prst="downArrow">
            <a:avLst/>
          </a:prstGeom>
          <a:solidFill>
            <a:srgbClr val="30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0" y="2258568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0C1228"/>
          </a:solidFill>
          <a:ln w="6350">
            <a:solidFill>
              <a:srgbClr val="1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3042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0C8FF"/>
                </a:solidFill>
                <a:latin typeface="Arial"/>
              </a:defRPr>
            </a:pPr>
            <a: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258568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7080A0"/>
                </a:solidFill>
                <a:latin typeface="Arial"/>
              </a:defRPr>
            </a:pPr>
            <a:r>
              <a:t>▸ Live2D Cubism 5  |  ▸ WebSocket Client  |  ▸ Audio Processor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3236976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0F1530"/>
          </a:solidFill>
          <a:ln w="1905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83080" y="3374136"/>
            <a:ext cx="457200" cy="457200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3080" y="33467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A0E2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310128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0C060"/>
                </a:solidFill>
                <a:latin typeface="Arial"/>
              </a:defRPr>
            </a:pPr>
            <a:r>
              <a:t>L3 应用层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328416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06080"/>
                </a:solidFill>
                <a:latin typeface="Arial"/>
              </a:defRPr>
            </a:pPr>
            <a:r>
              <a:t>Application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3621024"/>
            <a:ext cx="3383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090B0"/>
                </a:solidFill>
                <a:latin typeface="Arial"/>
              </a:defRPr>
            </a:pPr>
            <a:r>
              <a:t>Chat Engine  +  Persona Management  +  Admin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877056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060A0"/>
                </a:solidFill>
                <a:latin typeface="Arial"/>
              </a:defRPr>
            </a:pPr>
            <a:r>
              <a:t>FastAPI · WebSocket · SQLAlchemy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657600" y="4197096"/>
            <a:ext cx="274320" cy="109728"/>
          </a:xfrm>
          <a:prstGeom prst="downArrow">
            <a:avLst/>
          </a:prstGeom>
          <a:solidFill>
            <a:srgbClr val="30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66560" y="3328416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0C1228"/>
          </a:solidFill>
          <a:ln w="6350">
            <a:solidFill>
              <a:srgbClr val="1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37413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0C060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328416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7080A0"/>
                </a:solidFill>
                <a:latin typeface="Arial"/>
              </a:defRPr>
            </a:pPr>
            <a:r>
              <a:t>▸ Chat Engine  |  ▸ Persona Management  |  ▸ Admin Dashboard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4306824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0F1530"/>
          </a:solidFill>
          <a:ln w="19050">
            <a:solidFill>
              <a:srgbClr val="8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783080" y="4443984"/>
            <a:ext cx="457200" cy="457200"/>
          </a:xfrm>
          <a:prstGeom prst="ellipse">
            <a:avLst/>
          </a:prstGeom>
          <a:solidFill>
            <a:srgbClr val="8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83080" y="44165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A0E2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379976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80C8FF"/>
                </a:solidFill>
                <a:latin typeface="Arial"/>
              </a:defRPr>
            </a:pPr>
            <a:r>
              <a:t>L4 数据层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398264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06080"/>
                </a:solidFill>
                <a:latin typeface="Arial"/>
              </a:defRPr>
            </a:pPr>
            <a:r>
              <a:t>Data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4690872"/>
            <a:ext cx="3383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090B0"/>
                </a:solidFill>
                <a:latin typeface="Arial"/>
              </a:defRPr>
            </a:pPr>
            <a:r>
              <a:t>Vector DB  +  Knowledge Graph  +  OSS File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4946904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060A0"/>
                </a:solidFill>
                <a:latin typeface="Arial"/>
              </a:defRPr>
            </a:pPr>
            <a:r>
              <a:t>PostgreSQL · pgvector · Alibaba OSS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3657600" y="5266944"/>
            <a:ext cx="274320" cy="109728"/>
          </a:xfrm>
          <a:prstGeom prst="downArrow">
            <a:avLst/>
          </a:prstGeom>
          <a:solidFill>
            <a:srgbClr val="303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766560" y="4398264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0C1228"/>
          </a:solidFill>
          <a:ln w="6350">
            <a:solidFill>
              <a:srgbClr val="1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44398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0C8FF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398264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7080A0"/>
                </a:solidFill>
                <a:latin typeface="Arial"/>
              </a:defRPr>
            </a:pPr>
            <a:r>
              <a:t>▸ Vector DB  |  ▸ Knowledge Graph  |  ▸ OSS File Storage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5920" y="53766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0F1530"/>
          </a:solidFill>
          <a:ln w="1905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83080" y="5513832"/>
            <a:ext cx="457200" cy="457200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83080" y="5486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0A0E2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23160" y="5449824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0C060"/>
                </a:solidFill>
                <a:latin typeface="Arial"/>
              </a:defRPr>
            </a:pPr>
            <a:r>
              <a:t>L5 AI服务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46811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06080"/>
                </a:solidFill>
                <a:latin typeface="Arial"/>
              </a:defRPr>
            </a:pPr>
            <a:r>
              <a:t>AI Service Layer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5760720"/>
            <a:ext cx="3383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8090B0"/>
                </a:solidFill>
                <a:latin typeface="Arial"/>
              </a:defRPr>
            </a:pPr>
            <a:r>
              <a:t>LLM Chat  +  ASR / TTS  +  Embedding  +  RAG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6016752"/>
            <a:ext cx="3383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060A0"/>
                </a:solidFill>
                <a:latin typeface="Arial"/>
              </a:defRPr>
            </a:pPr>
            <a:r>
              <a:t>DeepSeek · Xunfei · OpenAI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66560" y="5468112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0C1228"/>
          </a:solidFill>
          <a:ln w="6350">
            <a:solidFill>
              <a:srgbClr val="1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551383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0C060"/>
                </a:solidFill>
                <a:latin typeface="Arial"/>
              </a:defRPr>
            </a:pPr>
            <a:r>
              <a:t>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5468112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7080A0"/>
                </a:solidFill>
                <a:latin typeface="Arial"/>
              </a:defRPr>
            </a:pPr>
            <a:r>
              <a:t>▸ LLM Chat  |  ▸ ASR / TTS  |  ▸ Embedding  |  ▸ RAG Pipeline</a:t>
            </a:r>
          </a:p>
        </p:txBody>
      </p:sp>
      <p:sp>
        <p:nvSpPr>
          <p:cNvPr id="59" name="Oval 58"/>
          <p:cNvSpPr/>
          <p:nvPr/>
        </p:nvSpPr>
        <p:spPr>
          <a:xfrm>
            <a:off x="11704320" y="1522476"/>
            <a:ext cx="109728" cy="109728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1759184" y="1632204.0"/>
            <a:ext cx="0" cy="960120.0"/>
          </a:xfrm>
          <a:prstGeom prst="line">
            <a:avLst/>
          </a:prstGeom>
          <a:ln w="12700">
            <a:solidFill>
              <a:srgbClr val="303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1704320" y="2592324"/>
            <a:ext cx="109728" cy="109728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1759184" y="2702052.0"/>
            <a:ext cx="0" cy="960120.0"/>
          </a:xfrm>
          <a:prstGeom prst="line">
            <a:avLst/>
          </a:prstGeom>
          <a:ln w="12700">
            <a:solidFill>
              <a:srgbClr val="303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1704320" y="3662172"/>
            <a:ext cx="109728" cy="109728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1759184" y="3771900.0"/>
            <a:ext cx="0" cy="960120.0"/>
          </a:xfrm>
          <a:prstGeom prst="line">
            <a:avLst/>
          </a:prstGeom>
          <a:ln w="12700">
            <a:solidFill>
              <a:srgbClr val="303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1704320" y="4732020"/>
            <a:ext cx="109728" cy="109728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1759184" y="4841748.0"/>
            <a:ext cx="0" cy="960120.0"/>
          </a:xfrm>
          <a:prstGeom prst="line">
            <a:avLst/>
          </a:prstGeom>
          <a:ln w="12700">
            <a:solidFill>
              <a:srgbClr val="3038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11704320" y="5801868"/>
            <a:ext cx="109728" cy="109728"/>
          </a:xfrm>
          <a:prstGeom prst="ellipse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0" y="6126480"/>
            <a:ext cx="853409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506080"/>
                </a:solidFill>
                <a:latin typeface="Arial"/>
              </a:defRPr>
            </a:pPr>
            <a:r>
              <a:t>五层架构 · 数据驱动 · 实时响应</a:t>
            </a:r>
          </a:p>
        </p:txBody>
      </p:sp>
    </p:spTree>
  </p:cSld>
  <p:clrMapOvr>
    <a:masterClrMapping/>
  </p:clrMapOvr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03" dur="800" fill="hold">
                      <p:childTnLst>
                        <p:animEffect transition="in" filter="fade">
                          <p:cTn id="104" dur="800"/>
                          <p:tgtEl>
                            <p:spTgt spid="3"/>
                          </p:tgtEl>
                        </p:animEffect>
                      </p:childTnLst>
                    </p:cTn>
                  </p:par>
                  <p:par>
                    <p:cTn id="105" dur="500" fill="hold">
                      <p:childTnLst>
                        <p:animEffect transition="in" filter="fade">
                          <p:cTn id="106" dur="500"/>
                          <p:tgtEl>
                            <p:spTgt spid="5"/>
                          </p:tgtEl>
                        </p:animEffect>
                        <p:animEffect transition="in" filter="fade">
                          <p:cTn id="107" dur="400"/>
                          <p:tgtEl>
                            <p:spTgt spid="6"/>
                          </p:tgtEl>
                        </p:animEffect>
                      </p:childTnLst>
                    </p:cTn>
                  </p:par>
                  <p:par>
                    <p:cTn id="108" dur="500" fill="hold">
                      <p:childTnLst>
                        <p:animEffect transition="in" filter="fade">
                          <p:cTn id="109" dur="500"/>
                          <p:tgtEl>
                            <p:spTgt spid="16"/>
                          </p:tgtEl>
                        </p:animEffect>
                        <p:animEffect transition="in" filter="fade">
                          <p:cTn id="110" dur="400"/>
                          <p:tgtEl>
                            <p:spTgt spid="17"/>
                          </p:tgtEl>
                        </p:animEffect>
                      </p:childTnLst>
                    </p:cTn>
                  </p:par>
                  <p:par>
                    <p:cTn id="111" dur="500" fill="hold">
                      <p:childTnLst>
                        <p:animEffect transition="in" filter="fade">
                          <p:cTn id="112" dur="500"/>
                          <p:tgtEl>
                            <p:spTgt spid="27"/>
                          </p:tgtEl>
                        </p:animEffect>
                        <p:animEffect transition="in" filter="fade">
                          <p:cTn id="113" dur="400"/>
                          <p:tgtEl>
                            <p:spTgt spid="28"/>
                          </p:tgtEl>
                        </p:animEffect>
                      </p:childTnLst>
                    </p:cTn>
                  </p:par>
                  <p:par>
                    <p:cTn id="114" dur="500" fill="hold">
                      <p:childTnLst>
                        <p:animEffect transition="in" filter="fade">
                          <p:cTn id="115" dur="500"/>
                          <p:tgtEl>
                            <p:spTgt spid="38"/>
                          </p:tgtEl>
                        </p:animEffect>
                        <p:animEffect transition="in" filter="fade">
                          <p:cTn id="116" dur="400"/>
                          <p:tgtEl>
                            <p:spTgt spid="39"/>
                          </p:tgtEl>
                        </p:animEffect>
                      </p:childTnLst>
                    </p:cTn>
                  </p:par>
                  <p:par>
                    <p:cTn id="117" dur="500" fill="hold">
                      <p:childTnLst>
                        <p:animEffect transition="in" filter="fade">
                          <p:cTn id="118" dur="500"/>
                          <p:tgtEl>
                            <p:spTgt spid="49"/>
                          </p:tgtEl>
                        </p:animEffect>
                        <p:animEffect transition="in" filter="fade">
                          <p:cTn id="119" dur="400"/>
                          <p:tgtEl>
                            <p:spTgt spid="50"/>
                          </p:tgtEl>
                        </p:animEffect>
                      </p:childTnLst>
                    </p:cTn>
                  </p:par>
                  <p:par>
                    <p:cTn id="120" dur="800" fill="hold">
                      <p:childTnLst>
                        <p:animEffect transition="in" filter="fade">
                          <p:cTn id="121" dur="800"/>
                          <p:tgtEl>
                            <p:spTgt spid="68"/>
                          </p:tgtEl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transition advTm="600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