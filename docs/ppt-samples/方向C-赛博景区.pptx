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partic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mountai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89120"/>
            <a:ext cx="12191695" cy="2468880"/>
          </a:xfrm>
          <a:prstGeom prst="rect">
            <a:avLst/>
          </a:prstGeom>
        </p:spPr>
      </p:pic>
      <p:pic>
        <p:nvPicPr>
          <p:cNvPr id="5" name="Picture 4" descr="tech_lin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109728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457200" y="365760"/>
            <a:ext cx="0" cy="548640"/>
          </a:xfrm>
          <a:prstGeom prst="line">
            <a:avLst/>
          </a:prstGeom>
          <a:ln w="25400">
            <a:solidFill>
              <a:srgbClr val="39F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" y="365760"/>
            <a:ext cx="548640" cy="0"/>
          </a:xfrm>
          <a:prstGeom prst="line">
            <a:avLst/>
          </a:prstGeom>
          <a:ln w="25400">
            <a:solidFill>
              <a:srgbClr val="39F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247120" y="6035040"/>
            <a:ext cx="0" cy="365760"/>
          </a:xfrm>
          <a:prstGeom prst="line">
            <a:avLst/>
          </a:prstGeom>
          <a:ln w="25400">
            <a:solidFill>
              <a:srgbClr val="39F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247120" y="6400800"/>
            <a:ext cx="487375" cy="0"/>
          </a:xfrm>
          <a:prstGeom prst="line">
            <a:avLst/>
          </a:prstGeom>
          <a:ln w="25400">
            <a:solidFill>
              <a:srgbClr val="39F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2743200"/>
            <a:ext cx="2743200" cy="0"/>
          </a:xfrm>
          <a:prstGeom prst="line">
            <a:avLst/>
          </a:prstGeom>
          <a:ln w="38100">
            <a:solidFill>
              <a:srgbClr val="FF7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71600" y="1645920"/>
            <a:ext cx="64008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FFFFF"/>
                </a:solidFill>
                <a:latin typeface="Microsoft YaHei"/>
                <a:ea typeface="Microsoft YaHei"/>
              </a:defRPr>
              <a:lnSpc>
                <a:spcPct val="100000"/>
              </a:lnSpc>
            </a:pPr>
            <a:r>
              <a:t>Eira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39FF14"/>
                </a:solidFill>
                <a:latin typeface="Microsoft YaHei"/>
                <a:ea typeface="Microsoft YaHei"/>
              </a:defRPr>
              <a:lnSpc>
                <a:spcPct val="60000"/>
              </a:lnSpc>
            </a:pPr>
            <a:r>
              <a:t>_________________________________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600" b="0">
                <a:solidFill>
                  <a:srgbClr val="C8D6E5"/>
                </a:solidFill>
                <a:latin typeface="Microsoft YaHei"/>
                <a:ea typeface="Microsoft YaHei"/>
              </a:defRPr>
              <a:lnSpc>
                <a:spcPct val="120000"/>
              </a:lnSpc>
            </a:pPr>
            <a:r>
              <a:t>AI 数字人景区导览系统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400" b="0">
                <a:solidFill>
                  <a:srgbClr val="FF79C6"/>
                </a:solidFill>
                <a:latin typeface="Microsoft YaHei"/>
                <a:ea typeface="Microsoft YaHei"/>
              </a:defRPr>
              <a:lnSpc>
                <a:spcPct val="130000"/>
              </a:lnSpc>
            </a:pPr>
            <a:r>
              <a:t>Live2D 二次元角色  ×  多模态语音交互  ×  RAG 知识增强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D700"/>
                </a:solidFill>
                <a:latin typeface="Microsoft YaHei"/>
                <a:ea typeface="Microsoft YaHei"/>
              </a:defRPr>
              <a:lnSpc>
                <a:spcPct val="130000"/>
              </a:lnSpc>
            </a:pPr>
            <a:r>
              <a:t>"中国软件杯"大学生软件设计大赛  | 赛博景区 · Cyber Zen</a:t>
            </a:r>
          </a:p>
        </p:txBody>
      </p:sp>
      <p:pic>
        <p:nvPicPr>
          <p:cNvPr id="12" name="Picture 11" descr="neon_tori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1645920"/>
            <a:ext cx="2286000" cy="347472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10515600" y="5303520"/>
            <a:ext cx="91440" cy="9144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89920" y="5029200"/>
            <a:ext cx="91440" cy="9144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64240" y="4754880"/>
            <a:ext cx="91440" cy="914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D111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9FF14"/>
                </a:solidFill>
                <a:latin typeface="Microsoft YaHei"/>
                <a:ea typeface="Microsoft YaHei"/>
              </a:defRPr>
              <a:lnSpc>
                <a:spcPct val="120000"/>
              </a:lnSpc>
            </a:pPr>
            <a:r>
              <a:t>赛博景区  ·  Cyber Zen  ·  数字山水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0"/>
            <a:ext cx="54864" cy="68580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0" nextAc="last">
        <p:cond delay="0"/>
        <p:par>
          <p:cTn id="211" dur="500" fill="hold">
            <p:stCondLst>
              <p:cond delay="0"/>
            </p:stCondLst>
            <p:tgtEl>
              <p:spTgt spid="11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04" dur="500" fill="hold">
            <p:stCondLst>
              <p:cond delay="300"/>
            </p:stCondLst>
            <p:tgtEl>
              <p:spTgt spid="4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10" dur="500" fill="hold">
            <p:stCondLst>
              <p:cond delay="800"/>
            </p:stCondLst>
            <p:tgtEl>
              <p:spTgt spid="10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12" dur="500" fill="hold">
            <p:stCondLst>
              <p:cond delay="500"/>
            </p:stCondLst>
            <p:tgtEl>
              <p:spTgt spid="12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17" dur="500" fill="hold">
            <p:stCondLst>
              <p:cond delay="1000"/>
            </p:stCondLst>
            <p:tgtEl>
              <p:spTgt spid="17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18" dur="500" fill="hold">
            <p:stCondLst>
              <p:cond delay="100"/>
            </p:stCondLst>
            <p:tgtEl>
              <p:spTgt spid="18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</p:seq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partic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914400" y="365760"/>
            <a:ext cx="10362895" cy="0"/>
          </a:xfrm>
          <a:prstGeom prst="line">
            <a:avLst/>
          </a:prstGeom>
          <a:ln w="12700">
            <a:solidFill>
              <a:srgbClr val="39F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31520" y="548640"/>
            <a:ext cx="4572000" cy="731520"/>
          </a:xfrm>
          <a:prstGeom prst="rect">
            <a:avLst/>
          </a:prstGeom>
          <a:solidFill>
            <a:srgbClr val="39FF1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94360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YaHei"/>
                <a:ea typeface="Microsoft YaHei"/>
              </a:defRPr>
              <a:lnSpc>
                <a:spcPct val="110000"/>
              </a:lnSpc>
            </a:pPr>
            <a:r>
              <a:t>✦  核心亮点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8D6E5"/>
                </a:solidFill>
                <a:latin typeface="Microsoft YaHei"/>
                <a:ea typeface="Microsoft YaHei"/>
              </a:defRPr>
              <a:lnSpc>
                <a:spcPct val="120000"/>
              </a:lnSpc>
            </a:pPr>
            <a:r>
              <a:t>打造景区 AI 导览新体验 — 多模态交互 × 实时响应 × 沉浸式数字人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2011680" cy="3474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240279"/>
            <a:ext cx="1645920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1463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39FF14"/>
                </a:solidFill>
                <a:latin typeface="Microsoft YaHei"/>
                <a:ea typeface="Microsoft YaHei"/>
              </a:defRPr>
              <a:lnSpc>
                <a:spcPct val="100000"/>
              </a:lnSpc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0896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  <a:ea typeface="Microsoft YaHei"/>
              </a:defRPr>
              <a:lnSpc>
                <a:spcPct val="120000"/>
              </a:lnSpc>
            </a:pPr>
            <a:r>
              <a:t>多模态交互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16459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8D6E5"/>
                </a:solidFill>
                <a:latin typeface="Microsoft YaHei"/>
                <a:ea typeface="Microsoft YaHei"/>
              </a:defRPr>
              <a:lnSpc>
                <a:spcPct val="160000"/>
              </a:lnSpc>
            </a:pPr>
            <a:r>
              <a:t>语音 + 文字双通道</a:t>
            </a:r>
            <a:br/>
            <a:r>
              <a:t>实时语音识别(ASR)</a:t>
            </a:r>
            <a:br/>
            <a:r>
              <a:t>情感化语音合成(TTS)</a:t>
            </a:r>
          </a:p>
        </p:txBody>
      </p:sp>
      <p:sp>
        <p:nvSpPr>
          <p:cNvPr id="13" name="Oval 12"/>
          <p:cNvSpPr/>
          <p:nvPr/>
        </p:nvSpPr>
        <p:spPr>
          <a:xfrm>
            <a:off x="1664208" y="5257800"/>
            <a:ext cx="146304" cy="146304"/>
          </a:xfrm>
          <a:prstGeom prst="ellipse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26080" y="2103120"/>
            <a:ext cx="2011680" cy="3474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08960" y="2240279"/>
            <a:ext cx="1645920" cy="36576"/>
          </a:xfrm>
          <a:prstGeom prst="rect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423160"/>
            <a:ext cx="1463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FF79C6"/>
                </a:solidFill>
                <a:latin typeface="Microsoft YaHei"/>
                <a:ea typeface="Microsoft YaHei"/>
              </a:defRPr>
              <a:lnSpc>
                <a:spcPct val="100000"/>
              </a:lnSpc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10896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  <a:ea typeface="Microsoft YaHei"/>
              </a:defRPr>
              <a:lnSpc>
                <a:spcPct val="120000"/>
              </a:lnSpc>
            </a:pPr>
            <a:r>
              <a:t>Live2D 数字人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657600"/>
            <a:ext cx="16459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8D6E5"/>
                </a:solidFill>
                <a:latin typeface="Microsoft YaHei"/>
                <a:ea typeface="Microsoft YaHei"/>
              </a:defRPr>
              <a:lnSpc>
                <a:spcPct val="160000"/>
              </a:lnSpc>
            </a:pPr>
            <a:r>
              <a:t>二次元角色实时渲染</a:t>
            </a:r>
            <a:br/>
            <a:r>
              <a:t>嘴型同步+表情联动</a:t>
            </a:r>
            <a:br/>
            <a:r>
              <a:t>拖拽旋转 3D 视角</a:t>
            </a:r>
          </a:p>
        </p:txBody>
      </p:sp>
      <p:sp>
        <p:nvSpPr>
          <p:cNvPr id="19" name="Oval 18"/>
          <p:cNvSpPr/>
          <p:nvPr/>
        </p:nvSpPr>
        <p:spPr>
          <a:xfrm>
            <a:off x="3858768" y="5257800"/>
            <a:ext cx="146304" cy="146304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20640" y="2103120"/>
            <a:ext cx="2011680" cy="3474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3520" y="2240279"/>
            <a:ext cx="164592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2423160"/>
            <a:ext cx="1463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FFD700"/>
                </a:solidFill>
                <a:latin typeface="Microsoft YaHei"/>
                <a:ea typeface="Microsoft YaHei"/>
              </a:defRPr>
              <a:lnSpc>
                <a:spcPct val="100000"/>
              </a:lnSpc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10896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  <a:ea typeface="Microsoft YaHei"/>
              </a:defRPr>
              <a:lnSpc>
                <a:spcPct val="120000"/>
              </a:lnSpc>
            </a:pPr>
            <a:r>
              <a:t>RAG 知识库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657600"/>
            <a:ext cx="16459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8D6E5"/>
                </a:solidFill>
                <a:latin typeface="Microsoft YaHei"/>
                <a:ea typeface="Microsoft YaHei"/>
              </a:defRPr>
              <a:lnSpc>
                <a:spcPct val="160000"/>
              </a:lnSpc>
            </a:pPr>
            <a:r>
              <a:t>景区知识智能检索</a:t>
            </a:r>
            <a:br/>
            <a:r>
              <a:t>向量化语义匹配</a:t>
            </a:r>
            <a:br/>
            <a:r>
              <a:t>精准回答海量问题</a:t>
            </a:r>
          </a:p>
        </p:txBody>
      </p:sp>
      <p:sp>
        <p:nvSpPr>
          <p:cNvPr id="25" name="Oval 24"/>
          <p:cNvSpPr/>
          <p:nvPr/>
        </p:nvSpPr>
        <p:spPr>
          <a:xfrm>
            <a:off x="6053328" y="5257800"/>
            <a:ext cx="146304" cy="14630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0" y="2103120"/>
            <a:ext cx="2011680" cy="3474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89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80" y="2240279"/>
            <a:ext cx="1645920" cy="36576"/>
          </a:xfrm>
          <a:prstGeom prst="rect">
            <a:avLst/>
          </a:prstGeom>
          <a:solidFill>
            <a:srgbClr val="28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2423160"/>
            <a:ext cx="1463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89B8E"/>
                </a:solidFill>
                <a:latin typeface="Microsoft YaHei"/>
                <a:ea typeface="Microsoft YaHei"/>
              </a:defRPr>
              <a:lnSpc>
                <a:spcPct val="100000"/>
              </a:lnSpc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10896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  <a:ea typeface="Microsoft YaHei"/>
              </a:defRPr>
              <a:lnSpc>
                <a:spcPct val="120000"/>
              </a:lnSpc>
            </a:pPr>
            <a:r>
              <a:t>流式响应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3657600"/>
            <a:ext cx="16459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8D6E5"/>
                </a:solidFill>
                <a:latin typeface="Microsoft YaHei"/>
                <a:ea typeface="Microsoft YaHei"/>
              </a:defRPr>
              <a:lnSpc>
                <a:spcPct val="160000"/>
              </a:lnSpc>
            </a:pPr>
            <a:r>
              <a:t>WebSocket 实时通信</a:t>
            </a:r>
            <a:br/>
            <a:r>
              <a:t>语音流式推送</a:t>
            </a:r>
            <a:br/>
            <a:r>
              <a:t>毫秒级首字延迟</a:t>
            </a:r>
          </a:p>
        </p:txBody>
      </p:sp>
      <p:sp>
        <p:nvSpPr>
          <p:cNvPr id="31" name="Oval 30"/>
          <p:cNvSpPr/>
          <p:nvPr/>
        </p:nvSpPr>
        <p:spPr>
          <a:xfrm>
            <a:off x="8247888" y="5257800"/>
            <a:ext cx="146304" cy="146304"/>
          </a:xfrm>
          <a:prstGeom prst="ellipse">
            <a:avLst/>
          </a:prstGeom>
          <a:solidFill>
            <a:srgbClr val="28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09760" y="2103120"/>
            <a:ext cx="2011680" cy="3474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92640" y="2240279"/>
            <a:ext cx="164592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2423160"/>
            <a:ext cx="1463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FF8C42"/>
                </a:solidFill>
                <a:latin typeface="Microsoft YaHei"/>
                <a:ea typeface="Microsoft YaHei"/>
              </a:defRPr>
              <a:lnSpc>
                <a:spcPct val="100000"/>
              </a:lnSpc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310896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  <a:ea typeface="Microsoft YaHei"/>
              </a:defRPr>
              <a:lnSpc>
                <a:spcPct val="120000"/>
              </a:lnSpc>
            </a:pPr>
            <a:r>
              <a:t>7×24 在线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3657600"/>
            <a:ext cx="16459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8D6E5"/>
                </a:solidFill>
                <a:latin typeface="Microsoft YaHei"/>
                <a:ea typeface="Microsoft YaHei"/>
              </a:defRPr>
              <a:lnSpc>
                <a:spcPct val="160000"/>
              </a:lnSpc>
            </a:pPr>
            <a:r>
              <a:t>全天候智能服务</a:t>
            </a:r>
            <a:br/>
            <a:r>
              <a:t>无需人工值守</a:t>
            </a:r>
            <a:br/>
            <a:r>
              <a:t>多语言多景区适配</a:t>
            </a:r>
          </a:p>
        </p:txBody>
      </p:sp>
      <p:sp>
        <p:nvSpPr>
          <p:cNvPr id="37" name="Oval 36"/>
          <p:cNvSpPr/>
          <p:nvPr/>
        </p:nvSpPr>
        <p:spPr>
          <a:xfrm>
            <a:off x="10442448" y="5257800"/>
            <a:ext cx="146304" cy="146304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914400" y="5943600"/>
            <a:ext cx="10362895" cy="0"/>
          </a:xfrm>
          <a:prstGeom prst="line">
            <a:avLst/>
          </a:prstGeom>
          <a:ln w="12700">
            <a:solidFill>
              <a:srgbClr val="FF7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828800" y="6080760"/>
            <a:ext cx="8534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D700"/>
                </a:solidFill>
                <a:latin typeface="Microsoft YaHei"/>
                <a:ea typeface="Microsoft YaHei"/>
              </a:defRPr>
              <a:lnSpc>
                <a:spcPct val="130000"/>
              </a:lnSpc>
            </a:pPr>
            <a:r>
              <a:t>"让每一位游客都拥有专属的 AI 导游，在数字山水中感受赛博景区的魅力"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0"/>
            <a:ext cx="54864" cy="68580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0" nextAc="last">
        <p:cond delay="0"/>
        <p:par>
          <p:cTn id="206" dur="500" fill="hold">
            <p:stCondLst>
              <p:cond delay="0"/>
            </p:stCondLst>
            <p:tgtEl>
              <p:spTgt spid="6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07" dur="500" fill="hold">
            <p:stCondLst>
              <p:cond delay="200"/>
            </p:stCondLst>
            <p:tgtEl>
              <p:spTgt spid="7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08" dur="500" fill="hold">
            <p:stCondLst>
              <p:cond delay="400"/>
            </p:stCondLst>
            <p:tgtEl>
              <p:spTgt spid="8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14" dur="500" fill="hold">
            <p:stCondLst>
              <p:cond delay="550"/>
            </p:stCondLst>
            <p:tgtEl>
              <p:spTgt spid="14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20" dur="500" fill="hold">
            <p:stCondLst>
              <p:cond delay="700"/>
            </p:stCondLst>
            <p:tgtEl>
              <p:spTgt spid="20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26" dur="500" fill="hold">
            <p:stCondLst>
              <p:cond delay="850"/>
            </p:stCondLst>
            <p:tgtEl>
              <p:spTgt spid="26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32" dur="500" fill="hold">
            <p:stCondLst>
              <p:cond delay="1000"/>
            </p:stCondLst>
            <p:tgtEl>
              <p:spTgt spid="32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38" dur="500" fill="hold">
            <p:stCondLst>
              <p:cond delay="1300"/>
            </p:stCondLst>
            <p:tgtEl>
              <p:spTgt spid="38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39" dur="500" fill="hold">
            <p:stCondLst>
              <p:cond delay="1400"/>
            </p:stCondLst>
            <p:tgtEl>
              <p:spTgt spid="39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</p:seq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partic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tech_lin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29200"/>
            <a:ext cx="12191695" cy="1828800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914400" y="365760"/>
            <a:ext cx="10362895" cy="0"/>
          </a:xfrm>
          <a:prstGeom prst="line">
            <a:avLst/>
          </a:prstGeom>
          <a:ln w="12700">
            <a:solidFill>
              <a:srgbClr val="39F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31520" y="548640"/>
            <a:ext cx="54864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9436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YaHei"/>
                <a:ea typeface="Microsoft YaHei"/>
              </a:defRPr>
              <a:lnSpc>
                <a:spcPct val="110000"/>
              </a:lnSpc>
            </a:pPr>
            <a:r>
              <a:t>⬡  技术架构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801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8D6E5"/>
                </a:solidFill>
                <a:latin typeface="Microsoft YaHei"/>
                <a:ea typeface="Microsoft YaHei"/>
              </a:defRPr>
              <a:lnSpc>
                <a:spcPct val="120000"/>
              </a:lnSpc>
            </a:pPr>
            <a:r>
              <a:t>五层架构设计 — 从用户交互到底层 AI 服务，构建可扩展的数字人导览系统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120640"/>
            <a:ext cx="10515600" cy="7315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5120640"/>
            <a:ext cx="54864" cy="7315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ayer_dot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5303520"/>
            <a:ext cx="365760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00200" y="519379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8C42"/>
                </a:solidFill>
                <a:latin typeface="Microsoft YaHei"/>
                <a:ea typeface="Microsoft YaHei"/>
              </a:defRPr>
              <a:lnSpc>
                <a:spcPct val="100000"/>
              </a:lnSpc>
            </a:pPr>
            <a:r>
              <a:t>L5 · AI 服务层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5486400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8D6E5"/>
                </a:solidFill>
                <a:latin typeface="Microsoft YaHei"/>
                <a:ea typeface="Microsoft YaHei"/>
              </a:defRPr>
              <a:lnSpc>
                <a:spcPct val="120000"/>
              </a:lnSpc>
            </a:pPr>
            <a:r>
              <a:t>LLM 大语言模型  |  ASR 语音识别  |  TTS 语音合成  |  Embedding 向量化  |  Search 语义检索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155680" y="5303520"/>
            <a:ext cx="0" cy="365759"/>
          </a:xfrm>
          <a:prstGeom prst="line">
            <a:avLst/>
          </a:prstGeom>
          <a:ln w="12700">
            <a:solidFill>
              <a:srgbClr val="FF8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035040" y="4160520"/>
            <a:ext cx="0" cy="1691639"/>
          </a:xfrm>
          <a:prstGeom prst="line">
            <a:avLst/>
          </a:prstGeom>
          <a:ln w="10160">
            <a:solidFill>
              <a:srgbClr val="FF8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4160520"/>
            <a:ext cx="10515600" cy="7315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289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4160520"/>
            <a:ext cx="54864" cy="731520"/>
          </a:xfrm>
          <a:prstGeom prst="rect">
            <a:avLst/>
          </a:prstGeom>
          <a:solidFill>
            <a:srgbClr val="28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ayer_dot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4343400"/>
            <a:ext cx="365760" cy="365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00200" y="423367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89B8E"/>
                </a:solidFill>
                <a:latin typeface="Microsoft YaHei"/>
                <a:ea typeface="Microsoft YaHei"/>
              </a:defRPr>
              <a:lnSpc>
                <a:spcPct val="100000"/>
              </a:lnSpc>
            </a:pPr>
            <a:r>
              <a:t>L4 · 数据层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526280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8D6E5"/>
                </a:solidFill>
                <a:latin typeface="Microsoft YaHei"/>
                <a:ea typeface="Microsoft YaHei"/>
              </a:defRPr>
              <a:lnSpc>
                <a:spcPct val="120000"/>
              </a:lnSpc>
            </a:pPr>
            <a:r>
              <a:t>PostgreSQL 关系存储  |  Redis 缓存/会话  |  阿里云 OSS 资产存储  |  Milvus 向量数据库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155680" y="4343400"/>
            <a:ext cx="0" cy="365759"/>
          </a:xfrm>
          <a:prstGeom prst="line">
            <a:avLst/>
          </a:prstGeom>
          <a:ln w="12700">
            <a:solidFill>
              <a:srgbClr val="289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108192" y="3200400"/>
            <a:ext cx="0" cy="1691640"/>
          </a:xfrm>
          <a:prstGeom prst="line">
            <a:avLst/>
          </a:prstGeom>
          <a:ln w="10160">
            <a:solidFill>
              <a:srgbClr val="289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4400" y="3200400"/>
            <a:ext cx="10515600" cy="7315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3200400"/>
            <a:ext cx="54864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ayer_dot_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3383280"/>
            <a:ext cx="365760" cy="3657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00200" y="327355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Microsoft YaHei"/>
                <a:ea typeface="Microsoft YaHei"/>
              </a:defRPr>
              <a:lnSpc>
                <a:spcPct val="100000"/>
              </a:lnSpc>
            </a:pPr>
            <a:r>
              <a:t>L3 · 应用层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566160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8D6E5"/>
                </a:solidFill>
                <a:latin typeface="Microsoft YaHei"/>
                <a:ea typeface="Microsoft YaHei"/>
              </a:defRPr>
              <a:lnSpc>
                <a:spcPct val="120000"/>
              </a:lnSpc>
            </a:pPr>
            <a:r>
              <a:t>Chat 对话引擎  |  Voice 语音处理  |  Persona 角色管理  |  Knowledge 知识库  |  Admin 管理后台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155680" y="3383280"/>
            <a:ext cx="0" cy="365759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181344" y="2240280"/>
            <a:ext cx="0" cy="1691640"/>
          </a:xfrm>
          <a:prstGeom prst="line">
            <a:avLst/>
          </a:prstGeom>
          <a:ln w="1016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14400" y="2240280"/>
            <a:ext cx="10515600" cy="7315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FF7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2240280"/>
            <a:ext cx="54864" cy="731520"/>
          </a:xfrm>
          <a:prstGeom prst="rect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ayer_dot_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" y="2423160"/>
            <a:ext cx="365760" cy="3657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600200" y="231343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79C6"/>
                </a:solidFill>
                <a:latin typeface="Microsoft YaHei"/>
                <a:ea typeface="Microsoft YaHei"/>
              </a:defRPr>
              <a:lnSpc>
                <a:spcPct val="100000"/>
              </a:lnSpc>
            </a:pPr>
            <a:r>
              <a:t>L2 · 前端层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2606040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8D6E5"/>
                </a:solidFill>
                <a:latin typeface="Microsoft YaHei"/>
                <a:ea typeface="Microsoft YaHei"/>
              </a:defRPr>
              <a:lnSpc>
                <a:spcPct val="120000"/>
              </a:lnSpc>
            </a:pPr>
            <a:r>
              <a:t>Vue 3 + TypeScript  |  Live2D Cubism 5 渲染  |  WebSocket 双向通信  |  响应式管理界面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155680" y="2423160"/>
            <a:ext cx="0" cy="365760"/>
          </a:xfrm>
          <a:prstGeom prst="line">
            <a:avLst/>
          </a:prstGeom>
          <a:ln w="12700">
            <a:solidFill>
              <a:srgbClr val="FF7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254496" y="1554480"/>
            <a:ext cx="0" cy="1417320"/>
          </a:xfrm>
          <a:prstGeom prst="line">
            <a:avLst/>
          </a:prstGeom>
          <a:ln w="10160">
            <a:solidFill>
              <a:srgbClr val="FF7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14400" y="1554480"/>
            <a:ext cx="10515600" cy="73152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" y="1554480"/>
            <a:ext cx="54864" cy="73152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layer_dot_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280" y="1737360"/>
            <a:ext cx="365760" cy="36576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600200" y="162763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9FF14"/>
                </a:solidFill>
                <a:latin typeface="Microsoft YaHei"/>
                <a:ea typeface="Microsoft YaHei"/>
              </a:defRPr>
              <a:lnSpc>
                <a:spcPct val="100000"/>
              </a:lnSpc>
            </a:pPr>
            <a:r>
              <a:t>L1 · 接入层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0200" y="1920240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8D6E5"/>
                </a:solidFill>
                <a:latin typeface="Microsoft YaHei"/>
                <a:ea typeface="Microsoft YaHei"/>
              </a:defRPr>
              <a:lnSpc>
                <a:spcPct val="120000"/>
              </a:lnSpc>
            </a:pPr>
            <a:r>
              <a:t>游客端 (web-user)  |  管理端 (web-admin)  |  Nginx 反向代理  |  CORS 跨域安全  |  JWT 认证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155680" y="1737360"/>
            <a:ext cx="0" cy="365760"/>
          </a:xfrm>
          <a:prstGeom prst="line">
            <a:avLst/>
          </a:prstGeom>
          <a:ln w="12700">
            <a:solidFill>
              <a:srgbClr val="39F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39FF14"/>
                </a:solidFill>
                <a:latin typeface="Microsoft YaHei"/>
                <a:ea typeface="Microsoft YaHei"/>
              </a:defRPr>
              <a:lnSpc>
                <a:spcPct val="130000"/>
              </a:lnSpc>
            </a:pPr>
            <a:r>
              <a:t>技术栈: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8D6E5"/>
                </a:solidFill>
                <a:latin typeface="Microsoft YaHei"/>
                <a:ea typeface="Microsoft YaHei"/>
              </a:defRPr>
              <a:lnSpc>
                <a:spcPct val="130000"/>
              </a:lnSpc>
            </a:pPr>
            <a:r>
              <a:t>Python FastAPI  ·  Vue 3  ·  Live2D Cubism 5  ·  WebSocket  ·  PostgreSQL  ·  Milvus  ·  Docker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0"/>
            <a:ext cx="54864" cy="68580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0" nextAc="last">
        <p:cond delay="0"/>
        <p:par>
          <p:cTn id="207" dur="500" fill="hold">
            <p:stCondLst>
              <p:cond delay="0"/>
            </p:stCondLst>
            <p:tgtEl>
              <p:spTgt spid="7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08" dur="500" fill="hold">
            <p:stCondLst>
              <p:cond delay="200"/>
            </p:stCondLst>
            <p:tgtEl>
              <p:spTgt spid="8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09" dur="500" fill="hold">
            <p:stCondLst>
              <p:cond delay="780"/>
            </p:stCondLst>
            <p:tgtEl>
              <p:spTgt spid="9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15" dur="500" fill="hold">
            <p:stCondLst>
              <p:cond delay="830"/>
            </p:stCondLst>
            <p:tgtEl>
              <p:spTgt spid="15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16" dur="500" fill="hold">
            <p:stCondLst>
              <p:cond delay="659"/>
            </p:stCondLst>
            <p:tgtEl>
              <p:spTgt spid="16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22" dur="500" fill="hold">
            <p:stCondLst>
              <p:cond delay="710"/>
            </p:stCondLst>
            <p:tgtEl>
              <p:spTgt spid="22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23" dur="500" fill="hold">
            <p:stCondLst>
              <p:cond delay="540"/>
            </p:stCondLst>
            <p:tgtEl>
              <p:spTgt spid="23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29" dur="500" fill="hold">
            <p:stCondLst>
              <p:cond delay="590"/>
            </p:stCondLst>
            <p:tgtEl>
              <p:spTgt spid="29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30" dur="500" fill="hold">
            <p:stCondLst>
              <p:cond delay="420"/>
            </p:stCondLst>
            <p:tgtEl>
              <p:spTgt spid="30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36" dur="500" fill="hold">
            <p:stCondLst>
              <p:cond delay="470"/>
            </p:stCondLst>
            <p:tgtEl>
              <p:spTgt spid="36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37" dur="500" fill="hold">
            <p:stCondLst>
              <p:cond delay="300"/>
            </p:stCondLst>
            <p:tgtEl>
              <p:spTgt spid="37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  <p:par>
          <p:cTn id="243" dur="500" fill="hold">
            <p:stCondLst>
              <p:cond delay="1000"/>
            </p:stCondLst>
            <p:tgtEl>
              <p:spTgt spid="43"/>
            </p:tgtEl>
            <p:animEffect transition="in" filter="fade">
              <p:setBhvr>
                <p:to>
                  <p:alphaModFix amt="100000"/>
                </p:to>
              </p:setBhvr>
            </p:animEffect>
          </p:cTn>
        </p:par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